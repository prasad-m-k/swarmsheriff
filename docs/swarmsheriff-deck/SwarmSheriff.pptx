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2.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id="{45DF9E64-0512-0744-A566-573EC9687EEC}">
          <p14:sldIdLst>
            <p14:sldId id="256"/>
            <p14:sldId id="257"/>
            <p14:sldId id="258"/>
          </p14:sldIdLst>
        </p14:section>
        <p14:section name="How" id="{28BA1F45-DF66-596B-D99C-2A6370108C40}">
          <p14:sldIdLst>
            <p14:sldId id="259"/>
            <p14:sldId id="260"/>
            <p14:sldId id="261"/>
            <p14:sldId id="262"/>
            <p14:sldId id="263"/>
            <p14:sldId id="264"/>
          </p14:sldIdLst>
        </p14:section>
        <p14:section name="Evidence" id="{050E590D-9F9C-76EC-C048-4189A92F382C}">
          <p14:sldIdLst>
            <p14:sldId id="265"/>
            <p14:sldId id="266"/>
            <p14:sldId id="267"/>
            <p14:sldId id="268"/>
            <p14:sldId id="269"/>
          </p14:sldIdLst>
        </p14:section>
        <p14:section name="Next" id="{5E357D33-9DB1-D74C-C388-D08F90B5A510}">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8"/>
    <p:restoredTop sz="94610"/>
  </p:normalViewPr>
  <p:slideViewPr>
    <p:cSldViewPr snapToGrid="0" snapToObjects="1">
      <p:cViewPr varScale="1">
        <p:scale>
          <a:sx n="121" d="100"/>
          <a:sy n="121" d="100"/>
        </p:scale>
        <p:origin x="176" y="7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919DAC"/>
                </a:solidFill>
                <a:latin typeface="+mn-lt"/>
              </a:defRPr>
            </a:pPr>
            <a:r>
              <a:rPr lang="en-US" sz="1100" b="0" i="0" u="none" strike="noStrike">
                <a:solidFill>
                  <a:srgbClr val="919DAC"/>
                </a:solidFill>
                <a:latin typeface="+mn-lt"/>
              </a:rPr>
              <a:t>Rows that matched a policy class, by table</a:t>
            </a:r>
          </a:p>
        </c:rich>
      </c:tx>
      <c:overlay val="0"/>
    </c:title>
    <c:autoTitleDeleted val="0"/>
    <c:plotArea>
      <c:layout/>
      <c:barChart>
        <c:barDir val="bar"/>
        <c:grouping val="clustered"/>
        <c:varyColors val="0"/>
        <c:ser>
          <c:idx val="0"/>
          <c:order val="0"/>
          <c:tx>
            <c:strRef>
              <c:f>Sheet1!$B$1</c:f>
              <c:strCache>
                <c:ptCount val="1"/>
                <c:pt idx="0">
                  <c:v>Rows that matched a class</c:v>
                </c:pt>
              </c:strCache>
            </c:strRef>
          </c:tx>
          <c:spPr>
            <a:solidFill>
              <a:srgbClr val="00B0F0"/>
            </a:solidFill>
            <a:effectLst/>
          </c:spPr>
          <c:invertIfNegative val="0"/>
          <c:dLbls>
            <c:numFmt formatCode="#,##0" sourceLinked="0"/>
            <c:spPr>
              <a:noFill/>
              <a:ln>
                <a:noFill/>
              </a:ln>
              <a:effectLst/>
            </c:spPr>
            <c:txPr>
              <a:bodyPr/>
              <a:lstStyle/>
              <a:p>
                <a:pPr>
                  <a:defRPr sz="1000" b="0" i="0" u="none" strike="noStrike">
                    <a:solidFill>
                      <a:srgbClr val="E0E6E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Claude Code stream</c:v>
                </c:pt>
                <c:pt idx="1">
                  <c:v>Group chat</c:v>
                </c:pt>
                <c:pt idx="2">
                  <c:v>Computer-use output</c:v>
                </c:pt>
                <c:pt idx="3">
                  <c:v>Agent memories</c:v>
                </c:pt>
              </c:strCache>
            </c:strRef>
          </c:cat>
          <c:val>
            <c:numRef>
              <c:f>Sheet1!$B$2:$B$5</c:f>
              <c:numCache>
                <c:formatCode>General</c:formatCode>
                <c:ptCount val="4"/>
                <c:pt idx="0">
                  <c:v>47</c:v>
                </c:pt>
                <c:pt idx="1">
                  <c:v>35</c:v>
                </c:pt>
                <c:pt idx="2">
                  <c:v>8708</c:v>
                </c:pt>
                <c:pt idx="3">
                  <c:v>4954</c:v>
                </c:pt>
              </c:numCache>
            </c:numRef>
          </c:val>
          <c:extLst>
            <c:ext xmlns:c16="http://schemas.microsoft.com/office/drawing/2014/chart" uri="{C3380CC4-5D6E-409C-BE32-E72D297353CC}">
              <c16:uniqueId val="{00000000-98E7-5147-8982-AD402E88C01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E0E6EB"/>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919DAC"/>
                </a:solidFill>
                <a:latin typeface="+mn-lt"/>
              </a:defRPr>
            </a:pPr>
            <a:r>
              <a:rPr lang="en-US" sz="1100" b="0" i="0" u="none" strike="noStrike">
                <a:solidFill>
                  <a:srgbClr val="919DAC"/>
                </a:solidFill>
                <a:latin typeface="+mn-lt"/>
              </a:rPr>
              <a:t>What the credit-card rule matched (reviewed sample)</a:t>
            </a:r>
          </a:p>
        </c:rich>
      </c:tx>
      <c:overlay val="0"/>
    </c:title>
    <c:autoTitleDeleted val="0"/>
    <c:plotArea>
      <c:layout/>
      <c:barChart>
        <c:barDir val="bar"/>
        <c:grouping val="clustered"/>
        <c:varyColors val="0"/>
        <c:ser>
          <c:idx val="0"/>
          <c:order val="0"/>
          <c:tx>
            <c:strRef>
              <c:f>Sheet1!$B$1</c:f>
              <c:strCache>
                <c:ptCount val="1"/>
                <c:pt idx="0">
                  <c:v>Hits</c:v>
                </c:pt>
              </c:strCache>
            </c:strRef>
          </c:tx>
          <c:spPr>
            <a:solidFill>
              <a:srgbClr val="F5B83D"/>
            </a:solidFill>
            <a:effectLst/>
          </c:spPr>
          <c:invertIfNegative val="0"/>
          <c:dLbls>
            <c:numFmt formatCode="#,##0" sourceLinked="0"/>
            <c:spPr>
              <a:noFill/>
              <a:ln>
                <a:noFill/>
              </a:ln>
              <a:effectLst/>
            </c:spPr>
            <c:txPr>
              <a:bodyPr/>
              <a:lstStyle/>
              <a:p>
                <a:pPr>
                  <a:defRPr sz="1000" b="0" i="0" u="none" strike="noStrike">
                    <a:solidFill>
                      <a:srgbClr val="E0E6E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Floating-point noise</c:v>
                </c:pt>
                <c:pt idx="1">
                  <c:v>IDs inside URLs</c:v>
                </c:pt>
                <c:pt idx="2">
                  <c:v>Lists of numbers</c:v>
                </c:pt>
                <c:pt idx="3">
                  <c:v>Dates, UUIDs, ranges</c:v>
                </c:pt>
                <c:pt idx="4">
                  <c:v>Other number runs</c:v>
                </c:pt>
                <c:pt idx="5">
                  <c:v>Payment test card</c:v>
                </c:pt>
              </c:strCache>
            </c:strRef>
          </c:cat>
          <c:val>
            <c:numRef>
              <c:f>Sheet1!$B$2:$B$7</c:f>
              <c:numCache>
                <c:formatCode>General</c:formatCode>
                <c:ptCount val="6"/>
                <c:pt idx="0">
                  <c:v>38</c:v>
                </c:pt>
                <c:pt idx="1">
                  <c:v>24</c:v>
                </c:pt>
                <c:pt idx="2">
                  <c:v>7</c:v>
                </c:pt>
                <c:pt idx="3">
                  <c:v>18</c:v>
                </c:pt>
                <c:pt idx="4">
                  <c:v>11</c:v>
                </c:pt>
                <c:pt idx="5">
                  <c:v>2</c:v>
                </c:pt>
              </c:numCache>
            </c:numRef>
          </c:val>
          <c:extLst>
            <c:ext xmlns:c16="http://schemas.microsoft.com/office/drawing/2014/chart" uri="{C3380CC4-5D6E-409C-BE32-E72D297353CC}">
              <c16:uniqueId val="{00000000-1BF3-F345-972F-F968F201DE6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E0E6EB"/>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31410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(~15 s):
- SwarmSheriff stops company data from reaching LLMs by accident.
- It is the outbound half of the work that started with SwarmSentinel.
Full notes:
SwarmSheriff is a single Go binary that runs on a workstation. It watches how AI tools are used on the machine and sits on the request path to LLM APIs, where it classifies each request against a company policy and decides whether it may leave. It is the companion to SwarmSentinel: SwarmSentinel decides what agents may do, SwarmSheriff decides what data may go out. Both follow the idea from my Agent Security Policy preprint, which the QR code links to: the check belongs outside the model, and the policy belongs in a file.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(~15 s):
- Most leaks are accidents: an agent needed context, a person needed help.
- Nobody attacked anything.
Full notes:
Four ways company data reaches a model today. A coding agent fixing a bug reads the surrounding module and sends it to a public API, because more context gives a better answer. An employee pastes a contract clause into a browser chat. A credential printed once in a tool result stays in the conversation and is sent again with every later turn. And most companies cannot say which AI tools are even running on their machines. None of these needs an attacker, which is why prompt rules and training alone do not close them.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(~15 s):
- Every agent talks in two directions.
- SwarmSentinel guards what comes in; SwarmSheriff guards what goes out.
Full notes:
Instructions come into an agent from documents, web pages, tool results and other agents. That is an integrity problem, and SwarmSentinel handles it by deciding every tool call. Data goes out of an agent to model APIs. That is a confidentiality problem, and it is what SwarmSheriff handles. They run as separate processes and talk over HTTP, so either works alone. When both run, SwarmSheriff sends each decision to SwarmSentinel's flight recorder, with class IDs as confidentiality labels that can follow the data across agents.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(~15 s):
- The agent points its base URL at SwarmSheriff.
- It decides, then forwards or blocks, and records the decision without the content.
Full notes:
An agent or SDK is pointed at the proxy with one environment variable, so there is no certificate trickery and no system-wide capture. Each request is read in memory and handed to the decision pipeline, which reads the policy file. In report mode, the default, the request is forwarded and the would-be verdict is logged. For classes in enforce mode a block stops it there. Separately, the sensors watch the clipboard, the process list and the hosts of Chrome tabs. Every decision goes to the rotating log, optionally to SwarmSentinel's recorder, and to a local SQLite store that the dashboard reads.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(~15 s):
- Cheap, certain checks first.
- The classifier only sees what the rules left open, and only features by default.
Full notes:
The pipeline runs in a fixed order. Source labels and path globs first, then exact fingerprints, then patterns and keywords. These three are deterministic: cleverly worded text cannot argue its way past them, and they cost microseconds. Only then, and only for classes that enable it, a classifier scores what is still ambiguous. A hosted classifier sees features, such as labels, document markers, length and rule counts, unless a class explicitly opts in to raw text, and that opt-in is printed at startup. The result is one of four verdicts. Mode is applied after the verdict: report mode forwards and logs; enforce mode acts.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(~15 s):
- A class is a JSON entry, not code.
- The loader is strict so a typo cannot quietly disable protection.
Full notes:
Companies define their own classes: source code, customer data, credentials, legal material, whatever matters to them. Each class lists its detectors, whether a classifier may help, and an action for each destination category, for example allowed to the company's approved tenant and blocked to public APIs. Adding a class is a data change. The loader is deliberately strict: unknown fields are an error, every destination must have an action, and an invalid file at startup stops the program. On a live reload, a broken file is ignored and the last good policy stays in force.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(~15 s):
- Point the base URL at it. That is the whole integration.
- Deciding takes microseconds on short text and tens of milliseconds on the longest.
Full notes:
Any tool that honors a base-URL setting can be routed through SwarmSheriff with one environment variable. The upstream host is the first path segment, so one proxy serves Anthropic, OpenAI and OpenRouter. A trusted launcher can add source labels and a declared agent ID as headers; they are removed before the request is forwarded. With SwarmSentinel linked, an engine-issued credential replaces the declared ID, and a credential that cannot be verified is refused. Cost: on the synthetic eval corpus the p95 decision takes tens of microseconds. On real agent text from the AI Village replay, the worst table, long agent memories, has a p95 of 38.1 ms, inside the 100 ms phase 1 target.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(~15 s):
- A data-loss tool must not become the place the data leaks from.
- It keeps labels, counts and timings, never the text.
Full notes:
These are invariants in the code, each with tests. The scanner reports which rule fired and how often, never what matched. The proxy holds a request body only while deciding. From responses it reads the usage counts and nothing else. API keys pass through untouched and never reach the log. Every listener binds to loopback and refuses anything else, and every file it writes is readable by the owner only. This is what separates enterprise data protection from employee surveillance.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(~15 s):
- It can block only what flows through the proxy.
- Everything else is visibility, and we say so.
Full notes:
Here is where SwarmSheriff can act and where it can only see. Agents that honor a base URL can be blocked, for classes in enforce mode. Claude Code and Antigravity report their lifecycle through hooks today, which feeds metrics; blocking through those hooks is the next step. The clipboard guard can replace a sensitive copy with a notice, but it polls, so a fast paste can win the race. Browser chats and desktop apps are inventoried, not stopped. And a local binary does nothing about another device. Saying this up front is better than a demo that overclaims.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(~15 s):
- We replayed real agent traffic through the real pipeline.
- The data is confidential, so only counts appear here.
Full notes:
To test beyond a 20-sample synthetic corpus, I replayed the AI Village dataset from AI Digest: frontier-model agents working in a shared environment for over a year. Four tables carry text an LLM would receive: the Claude Code agent stream, the group chat, computer-use tool output, and agent memories. 3.18M rows went through the same scanner and decide function the proxy uses, with the example policy and the public-api destination. The data is gated and confidential. It stayed on the laptop, the harness writes counts only, and the hit review used masked values. Nothing in this deck quotes the data.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(~15 s):
- Almost all real agent traffic is allowed.
- The small fraction that matched is where it gets interesting.
Full notes:
Across 3,184,943 rows, 13,744 matched a class, which is 0.432%. That matters for a tool meant to sit on the request path: it should be nearly invisible to ordinary work. The chart shows where matches came from. 914 rows held something in a credential format, which the example policy blocks at every destination. These are counterfactual: the data is historical and nothing was blocked at the time.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(~15 s):
- Agents copy credentials into places that get re-sent to the model.
- Every credential hit we reviewed was real.
Full notes:
The example policy blocks the credentials class at every destination, so these 914 rows are what it would have stopped. I reviewed a sample of the hits with the values masked. They were real credential formats: session tokens that agents obtained and then printed or saved, one third-party service key that several agents registered for and copied around, and private-key blocks, most of them a well-known demo key that ships inside an open-source security training app. The striking part is memory. 452 of the rows are memory documents, because an agent that writes a key into its notes sends that key to the model on every turn afterwards. Two hits in about 140 were wrong: a CI runner hostname and an SSH algorithm name that happen to start with sk-. The key pattern is also named for OpenAI when it really catches any sk- key, which is worth renaming.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(~15 s):
- The synthetic corpus said zero false positives. Real data disagreed.
- Luhn alone passes about one random number in ten.
Full notes:
The synthetic eval corpus reported zero false positives, and on real agent text the card rule fired on 12,793 rows. Because customer data is set to hold at public APIs, each of those would have been a held request. I reviewed 100 of them. None was a real card. Two were the well-known payment test number. The rest were floating-point values printed with long tails of nines, IDs inside URLs, lists of numbers, dates and UUIDs that pass the Luhn check by chance, which about one random digit string in ten does. Overall that is 0.40% of rows, under the 2% phase 1 ceiling, but the precision is close to zero and the fixes are clear: ignore runs inside URLs and decimals, and require card-length groups. Two smaller notes: the SSN rule hit 42 rows, all test fixtures or book DOIs, and email matched 317,136 rows, which is why the example policy leaves email out of every class.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(~15 s):
- Chat and tool output decide in about 2 ms at p95; long memories take tens of ms.
- The 100 ms budget is mostly left for the network.
Full notes:
This is the time the deterministic pipeline took per row on real text, measured inside the replay with eight rows in flight at once on one laptop. Tool output and memories are long, so they cost more than chat lines, and the tail comes from the biggest rows. Even the worst case, memory documents that average tens of kilobytes, stays inside the 100 millisecond phase 1 budget at p95, though its p99 comes close, so long inputs are where optimization should start. The classifier was off for this run; a hosted classifier adds a network round trip and has its own timeout and fallback.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(~15 s):
- What it cannot do yet, and the next steps the replay pointed at.
Full notes:
The limits first. SwarmSheriff can only block what is routed through it. The clipboard guard polls, so it can lose a race and cannot see typed text. The replay showed the card-number rule is too noisy, and the classifier has not been calibrated against live traffic. The synthetic corpus is far below the 200 samples per class the phase 1 exit criteria call for. Next: use the replay to tighten the noisy rules and grow a reviewed corpus, move blocking into agent hooks with a local approval flow for hold, replace blocking with surrogate values where a class allows it, and eventually run as a managed service with egress forced through it.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(~15 s):
- One binary, one dependency, report mode by default. Thank you.
Full notes:
SwarmSheriff is one Go binary with one dependency, a pure-Go SQLite engine, so it builds for macOS, Linux and Windows without cgo. Start it in watch mode, run the eval, open the dashboard. The policy example and the architecture document are in the repository. Real-data results come from the AI Village dataset by AI Digest; they are counterfactual, and the dataset itself is not redistributed. Thank you.</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C1118"/>
        </a:solidFill>
        <a:effectLst/>
      </p:bgPr>
    </p:bg>
    <p:spTree>
      <p:nvGrpSpPr>
        <p:cNvPr id="1" name=""/>
        <p:cNvGrpSpPr/>
        <p:nvPr/>
      </p:nvGrpSpPr>
      <p:grpSpPr>
        <a:xfrm>
          <a:off x="0" y="0"/>
          <a:ext cx="0" cy="0"/>
          <a:chOff x="0" y="0"/>
          <a:chExt cx="0" cy="0"/>
        </a:xfrm>
      </p:grpSpPr>
      <p:sp>
        <p:nvSpPr>
          <p:cNvPr id="2" name="Shape 0"/>
          <p:cNvSpPr/>
          <p:nvPr/>
        </p:nvSpPr>
        <p:spPr>
          <a:xfrm>
            <a:off x="566928" y="429768"/>
            <a:ext cx="347472" cy="27432"/>
          </a:xfrm>
          <a:prstGeom prst="rect">
            <a:avLst/>
          </a:prstGeom>
          <a:solidFill>
            <a:srgbClr val="00B0F0"/>
          </a:solidFill>
          <a:ln/>
        </p:spPr>
        <p:txBody>
          <a:bodyPr/>
          <a:lstStyle/>
          <a:p>
            <a:endParaRPr lang="en-US"/>
          </a:p>
        </p:txBody>
      </p:sp>
      <p:sp>
        <p:nvSpPr>
          <p:cNvPr id="3" name="Shape 1"/>
          <p:cNvSpPr/>
          <p:nvPr/>
        </p:nvSpPr>
        <p:spPr>
          <a:xfrm>
            <a:off x="566928" y="4828032"/>
            <a:ext cx="8001000" cy="9144"/>
          </a:xfrm>
          <a:prstGeom prst="rect">
            <a:avLst/>
          </a:prstGeom>
          <a:solidFill>
            <a:schemeClr val="accent2"/>
          </a:solidFill>
          <a:ln/>
        </p:spPr>
        <p:txBody>
          <a:bodyPr/>
          <a:lstStyle/>
          <a:p>
            <a:endParaRPr lang="en-US"/>
          </a:p>
        </p:txBody>
      </p:sp>
      <p:sp>
        <p:nvSpPr>
          <p:cNvPr id="4" name="Text 2"/>
          <p:cNvSpPr/>
          <p:nvPr/>
        </p:nvSpPr>
        <p:spPr>
          <a:xfrm>
            <a:off x="566928" y="4864608"/>
            <a:ext cx="2286000" cy="219456"/>
          </a:xfrm>
          <a:prstGeom prst="rect">
            <a:avLst/>
          </a:prstGeom>
          <a:noFill/>
          <a:ln/>
        </p:spPr>
        <p:txBody>
          <a:bodyPr wrap="square" lIns="0" tIns="0" rIns="0" bIns="0" rtlCol="0" anchor="ctr"/>
          <a:lstStyle/>
          <a:p>
            <a:pPr marL="0" indent="0">
              <a:buNone/>
            </a:pPr>
            <a:r>
              <a:rPr lang="en-US" sz="1130" dirty="0">
                <a:solidFill>
                  <a:schemeClr val="tx2"/>
                </a:solidFill>
                <a:latin typeface="JetBrains Mono" pitchFamily="34" charset="0"/>
                <a:ea typeface="JetBrains Mono" pitchFamily="34" charset="-122"/>
                <a:cs typeface="JetBrains Mono" pitchFamily="34" charset="-120"/>
              </a:rPr>
              <a:t>SwarmSheriff</a:t>
            </a:r>
            <a:endParaRPr lang="en-US" sz="1130" dirty="0"/>
          </a:p>
        </p:txBody>
      </p:sp>
      <p:sp>
        <p:nvSpPr>
          <p:cNvPr id="5" name="Shape 3"/>
          <p:cNvSpPr/>
          <p:nvPr/>
        </p:nvSpPr>
        <p:spPr>
          <a:xfrm>
            <a:off x="7095744" y="0"/>
            <a:ext cx="2048256" cy="5143500"/>
          </a:xfrm>
          <a:prstGeom prst="rect">
            <a:avLst/>
          </a:prstGeom>
          <a:solidFill>
            <a:schemeClr val="accent1">
              <a:alpha val="10000"/>
            </a:schemeClr>
          </a:solidFill>
          <a:ln/>
        </p:spPr>
        <p:txBody>
          <a:bodyPr/>
          <a:lstStyle/>
          <a:p>
            <a:endParaRPr lang="en-US"/>
          </a:p>
        </p:txBody>
      </p:sp>
      <p:sp>
        <p:nvSpPr>
          <p:cNvPr id="6" name="Text 4"/>
          <p:cNvSpPr>
            <a:spLocks noGrp="1"/>
          </p:cNvSpPr>
          <p:nvPr>
            <p:ph type="title" idx="104" hasCustomPrompt="1"/>
          </p:nvPr>
        </p:nvSpPr>
        <p:spPr>
          <a:xfrm>
            <a:off x="566928" y="1325880"/>
            <a:ext cx="6309360" cy="868680"/>
          </a:xfrm>
          <a:prstGeom prst="rect">
            <a:avLst/>
          </a:prstGeom>
          <a:noFill/>
          <a:ln/>
        </p:spPr>
        <p:txBody>
          <a:bodyPr wrap="square" rtlCol="0"/>
          <a:lstStyle>
            <a:lvl1pPr marL="0" indent="0">
              <a:buNone/>
              <a:defRPr lang="en-US" sz="4800" b="1" dirty="0">
                <a:solidFill>
                  <a:schemeClr val="tx1"/>
                </a:solidFill>
              </a:defRPr>
            </a:lvl1pPr>
          </a:lstStyle>
          <a:p>
            <a:pPr marL="0" indent="0">
              <a:buNone/>
            </a:pPr>
            <a:endParaRPr lang="en-US" sz="4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0C1118"/>
        </a:solidFill>
        <a:effectLst/>
      </p:bgPr>
    </p:bg>
    <p:spTree>
      <p:nvGrpSpPr>
        <p:cNvPr id="1" name=""/>
        <p:cNvGrpSpPr/>
        <p:nvPr/>
      </p:nvGrpSpPr>
      <p:grpSpPr>
        <a:xfrm>
          <a:off x="0" y="0"/>
          <a:ext cx="0" cy="0"/>
          <a:chOff x="0" y="0"/>
          <a:chExt cx="0" cy="0"/>
        </a:xfrm>
      </p:grpSpPr>
      <p:sp>
        <p:nvSpPr>
          <p:cNvPr id="2" name="Shape 0"/>
          <p:cNvSpPr/>
          <p:nvPr/>
        </p:nvSpPr>
        <p:spPr>
          <a:xfrm>
            <a:off x="566928" y="429768"/>
            <a:ext cx="347472" cy="27432"/>
          </a:xfrm>
          <a:prstGeom prst="rect">
            <a:avLst/>
          </a:prstGeom>
          <a:solidFill>
            <a:srgbClr val="00B0F0"/>
          </a:solidFill>
          <a:ln/>
        </p:spPr>
        <p:txBody>
          <a:bodyPr/>
          <a:lstStyle/>
          <a:p>
            <a:endParaRPr lang="en-US"/>
          </a:p>
        </p:txBody>
      </p:sp>
      <p:sp>
        <p:nvSpPr>
          <p:cNvPr id="3" name="Shape 1"/>
          <p:cNvSpPr/>
          <p:nvPr/>
        </p:nvSpPr>
        <p:spPr>
          <a:xfrm>
            <a:off x="566928" y="4828032"/>
            <a:ext cx="8001000" cy="9144"/>
          </a:xfrm>
          <a:prstGeom prst="rect">
            <a:avLst/>
          </a:prstGeom>
          <a:solidFill>
            <a:schemeClr val="accent2"/>
          </a:solidFill>
          <a:ln/>
        </p:spPr>
        <p:txBody>
          <a:bodyPr/>
          <a:lstStyle/>
          <a:p>
            <a:endParaRPr lang="en-US"/>
          </a:p>
        </p:txBody>
      </p:sp>
      <p:sp>
        <p:nvSpPr>
          <p:cNvPr id="4" name="Text 2"/>
          <p:cNvSpPr/>
          <p:nvPr/>
        </p:nvSpPr>
        <p:spPr>
          <a:xfrm>
            <a:off x="566928" y="4864608"/>
            <a:ext cx="2286000" cy="219456"/>
          </a:xfrm>
          <a:prstGeom prst="rect">
            <a:avLst/>
          </a:prstGeom>
          <a:noFill/>
          <a:ln/>
        </p:spPr>
        <p:txBody>
          <a:bodyPr wrap="square" lIns="0" tIns="0" rIns="0" bIns="0" rtlCol="0" anchor="ctr"/>
          <a:lstStyle/>
          <a:p>
            <a:pPr marL="0" indent="0">
              <a:buNone/>
            </a:pPr>
            <a:r>
              <a:rPr lang="en-US" sz="1130" dirty="0">
                <a:solidFill>
                  <a:schemeClr val="tx2"/>
                </a:solidFill>
                <a:latin typeface="JetBrains Mono" pitchFamily="34" charset="0"/>
                <a:ea typeface="JetBrains Mono" pitchFamily="34" charset="-122"/>
                <a:cs typeface="JetBrains Mono" pitchFamily="34" charset="-120"/>
              </a:rPr>
              <a:t>SwarmSheriff</a:t>
            </a:r>
            <a:endParaRPr lang="en-US" sz="1130" dirty="0"/>
          </a:p>
        </p:txBody>
      </p:sp>
      <p:sp>
        <p:nvSpPr>
          <p:cNvPr id="5" name="Text 3"/>
          <p:cNvSpPr>
            <a:spLocks noGrp="1"/>
          </p:cNvSpPr>
          <p:nvPr>
            <p:ph type="title" idx="103" hasCustomPrompt="1"/>
          </p:nvPr>
        </p:nvSpPr>
        <p:spPr>
          <a:xfrm>
            <a:off x="566928" y="566928"/>
            <a:ext cx="8001000" cy="512064"/>
          </a:xfrm>
          <a:prstGeom prst="rect">
            <a:avLst/>
          </a:prstGeom>
          <a:noFill/>
          <a:ln/>
        </p:spPr>
        <p:txBody>
          <a:bodyPr wrap="square" rtlCol="0"/>
          <a:lstStyle>
            <a:lvl1pPr marL="0" indent="0">
              <a:buNone/>
              <a:defRPr lang="en-US" sz="2850" b="1" dirty="0">
                <a:solidFill>
                  <a:schemeClr val="tx1"/>
                </a:solidFill>
              </a:defRPr>
            </a:lvl1pPr>
          </a:lstStyle>
          <a:p>
            <a:pPr marL="0" indent="0">
              <a:buNone/>
            </a:pPr>
            <a:endParaRPr lang="en-US" sz="28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4"/>
          <p:cNvSpPr>
            <a:spLocks noGrp="1"/>
          </p:cNvSpPr>
          <p:nvPr>
            <p:ph type="title" idx="104" hasCustomPrompt="1"/>
          </p:nvPr>
        </p:nvSpPr>
        <p:spPr>
          <a:xfrm>
            <a:off x="566928" y="1325880"/>
            <a:ext cx="6309360" cy="868680"/>
          </a:xfrm>
          <a:prstGeom prst="rect">
            <a:avLst/>
          </a:prstGeom>
          <a:noFill/>
          <a:ln/>
        </p:spPr>
        <p:txBody>
          <a:bodyPr wrap="square" lIns="0" tIns="0" rIns="0" bIns="0" rtlCol="0"/>
          <a:lstStyle/>
          <a:p>
            <a:pPr marL="0" indent="0">
              <a:buNone/>
            </a:pPr>
            <a:r>
              <a:rPr lang="en-US" sz="4800" b="1" dirty="0" err="1">
                <a:solidFill>
                  <a:schemeClr val="tx1"/>
                </a:solidFill>
              </a:rPr>
              <a:t>SwarmSheriff</a:t>
            </a:r>
            <a:endParaRPr lang="en-US" sz="4800" dirty="0"/>
          </a:p>
        </p:txBody>
      </p:sp>
      <p:sp>
        <p:nvSpPr>
          <p:cNvPr id="3" name="Text 1"/>
          <p:cNvSpPr txBox="1"/>
          <p:nvPr/>
        </p:nvSpPr>
        <p:spPr>
          <a:xfrm>
            <a:off x="7653528" y="4864608"/>
            <a:ext cx="914400" cy="219456"/>
          </a:xfrm>
          <a:prstGeom prst="rect">
            <a:avLst/>
          </a:prstGeom>
          <a:noFill/>
          <a:ln/>
        </p:spPr>
        <p:txBody>
          <a:bodyPr wrap="square" lIns="0" tIns="0" rIns="0" bIns="0" rtlCol="0" anchor="ctr"/>
          <a:lstStyle/>
          <a:p>
            <a:pPr marL="0" indent="0" algn="r">
              <a:buNone/>
            </a:pPr>
            <a:r>
              <a:rPr lang="en-US" sz="1130" dirty="0">
                <a:solidFill>
                  <a:schemeClr val="tx2"/>
                </a:solidFill>
                <a:latin typeface="JetBrains Mono" pitchFamily="34" charset="0"/>
                <a:ea typeface="JetBrains Mono" pitchFamily="34" charset="-122"/>
                <a:cs typeface="JetBrains Mono" pitchFamily="34" charset="-120"/>
              </a:rPr>
              <a:t>01 / 16</a:t>
            </a:r>
            <a:endParaRPr lang="en-US" sz="1130" dirty="0"/>
          </a:p>
        </p:txBody>
      </p:sp>
      <p:sp>
        <p:nvSpPr>
          <p:cNvPr id="4" name="Text 2"/>
          <p:cNvSpPr txBox="1"/>
          <p:nvPr/>
        </p:nvSpPr>
        <p:spPr>
          <a:xfrm>
            <a:off x="566928" y="2788920"/>
            <a:ext cx="6309360" cy="347472"/>
          </a:xfrm>
          <a:prstGeom prst="rect">
            <a:avLst/>
          </a:prstGeom>
          <a:noFill/>
          <a:ln/>
        </p:spPr>
        <p:txBody>
          <a:bodyPr wrap="square" lIns="0" tIns="0" rIns="0" bIns="0" rtlCol="0" anchor="t"/>
          <a:lstStyle/>
          <a:p>
            <a:pPr marL="0" indent="0">
              <a:buNone/>
            </a:pPr>
            <a:r>
              <a:rPr lang="en-US" sz="1800" b="1">
                <a:solidFill>
                  <a:srgbClr val="00B0F0"/>
                </a:solidFill>
              </a:rPr>
              <a:t>Data-leak </a:t>
            </a:r>
            <a:r>
              <a:rPr lang="en-US" sz="1800" b="1" dirty="0">
                <a:solidFill>
                  <a:srgbClr val="00B0F0"/>
                </a:solidFill>
              </a:rPr>
              <a:t>prevention for AI agents</a:t>
            </a:r>
            <a:endParaRPr lang="en-US" sz="1800" dirty="0"/>
          </a:p>
        </p:txBody>
      </p:sp>
      <p:sp>
        <p:nvSpPr>
          <p:cNvPr id="5" name="Text 3"/>
          <p:cNvSpPr txBox="1"/>
          <p:nvPr/>
        </p:nvSpPr>
        <p:spPr>
          <a:xfrm>
            <a:off x="566928" y="3200400"/>
            <a:ext cx="6309360" cy="731520"/>
          </a:xfrm>
          <a:prstGeom prst="rect">
            <a:avLst/>
          </a:prstGeom>
          <a:noFill/>
          <a:ln/>
        </p:spPr>
        <p:txBody>
          <a:bodyPr wrap="square" lIns="0" tIns="0" rIns="0" bIns="0" rtlCol="0" anchor="t"/>
          <a:lstStyle/>
          <a:p>
            <a:pPr marL="0" indent="0">
              <a:buNone/>
            </a:pPr>
            <a:r>
              <a:rPr lang="en-US" sz="1800" dirty="0">
                <a:solidFill>
                  <a:schemeClr val="tx1"/>
                </a:solidFill>
              </a:rPr>
              <a:t>Stops company data from leaking to LLMs, from any agent, chat app or script</a:t>
            </a:r>
            <a:endParaRPr lang="en-US" sz="1800" dirty="0"/>
          </a:p>
        </p:txBody>
      </p:sp>
      <p:sp>
        <p:nvSpPr>
          <p:cNvPr id="6" name="Text 4"/>
          <p:cNvSpPr txBox="1"/>
          <p:nvPr/>
        </p:nvSpPr>
        <p:spPr>
          <a:xfrm>
            <a:off x="566928" y="4041648"/>
            <a:ext cx="6309360" cy="329184"/>
          </a:xfrm>
          <a:prstGeom prst="rect">
            <a:avLst/>
          </a:prstGeom>
          <a:noFill/>
          <a:ln/>
        </p:spPr>
        <p:txBody>
          <a:bodyPr wrap="square" lIns="0" tIns="0" rIns="0" bIns="0" rtlCol="0" anchor="t"/>
          <a:lstStyle/>
          <a:p>
            <a:pPr marL="0" indent="0">
              <a:buNone/>
            </a:pPr>
            <a:r>
              <a:rPr lang="en-US" sz="1600" b="1" dirty="0">
                <a:solidFill>
                  <a:srgbClr val="00B0F0"/>
                </a:solidFill>
              </a:rPr>
              <a:t>Prasad MK</a:t>
            </a:r>
            <a:endParaRPr lang="en-US" sz="1600" dirty="0"/>
          </a:p>
        </p:txBody>
      </p:sp>
      <p:sp>
        <p:nvSpPr>
          <p:cNvPr id="7" name="Text 5"/>
          <p:cNvSpPr txBox="1"/>
          <p:nvPr/>
        </p:nvSpPr>
        <p:spPr>
          <a:xfrm>
            <a:off x="566928" y="4389120"/>
            <a:ext cx="6309360" cy="274320"/>
          </a:xfrm>
          <a:prstGeom prst="rect">
            <a:avLst/>
          </a:prstGeom>
          <a:noFill/>
          <a:ln/>
        </p:spPr>
        <p:txBody>
          <a:bodyPr wrap="square" lIns="0" tIns="0" rIns="0" bIns="0" rtlCol="0" anchor="t"/>
          <a:lstStyle/>
          <a:p>
            <a:pPr marL="0" indent="0">
              <a:buNone/>
            </a:pPr>
            <a:r>
              <a:rPr lang="en-US" sz="1130" dirty="0">
                <a:solidFill>
                  <a:schemeClr val="tx2"/>
                </a:solidFill>
              </a:rPr>
              <a:t>github.com/prasad-m-k/swarmsheriff  ·  companion to SwarmSentinel</a:t>
            </a:r>
            <a:endParaRPr lang="en-US" sz="1130" dirty="0"/>
          </a:p>
        </p:txBody>
      </p:sp>
      <p:pic>
        <p:nvPicPr>
          <p:cNvPr id="8" name="Image 0" descr="QR code linking to the ASP preprint on SSRN (DOI 10.2139/ssrn.6876926)"/>
          <p:cNvPicPr>
            <a:picLocks noChangeAspect="1"/>
          </p:cNvPicPr>
          <p:nvPr/>
        </p:nvPicPr>
        <p:blipFill>
          <a:blip r:embed="rId3"/>
          <a:stretch>
            <a:fillRect/>
          </a:stretch>
        </p:blipFill>
        <p:spPr>
          <a:xfrm>
            <a:off x="7406640" y="2606040"/>
            <a:ext cx="1408176" cy="1408176"/>
          </a:xfrm>
          <a:prstGeom prst="rect">
            <a:avLst/>
          </a:prstGeom>
        </p:spPr>
      </p:pic>
      <p:sp>
        <p:nvSpPr>
          <p:cNvPr id="9" name="Text 6"/>
          <p:cNvSpPr txBox="1"/>
          <p:nvPr/>
        </p:nvSpPr>
        <p:spPr>
          <a:xfrm>
            <a:off x="7123176" y="4114800"/>
            <a:ext cx="1865376" cy="274320"/>
          </a:xfrm>
          <a:prstGeom prst="rect">
            <a:avLst/>
          </a:prstGeom>
          <a:noFill/>
          <a:ln/>
        </p:spPr>
        <p:txBody>
          <a:bodyPr wrap="square" lIns="0" tIns="0" rIns="0" bIns="0" rtlCol="0" anchor="t"/>
          <a:lstStyle/>
          <a:p>
            <a:pPr marL="0" indent="0" algn="ctr">
              <a:buNone/>
            </a:pPr>
            <a:r>
              <a:rPr lang="en-US" sz="1200" b="1" dirty="0">
                <a:solidFill>
                  <a:schemeClr val="tx1"/>
                </a:solidFill>
              </a:rPr>
              <a:t>ASP preprint</a:t>
            </a:r>
            <a:endParaRPr lang="en-US" sz="1200" dirty="0"/>
          </a:p>
        </p:txBody>
      </p:sp>
      <p:sp>
        <p:nvSpPr>
          <p:cNvPr id="10" name="Text 7"/>
          <p:cNvSpPr txBox="1"/>
          <p:nvPr/>
        </p:nvSpPr>
        <p:spPr>
          <a:xfrm>
            <a:off x="7123176" y="4425696"/>
            <a:ext cx="1865376" cy="237744"/>
          </a:xfrm>
          <a:prstGeom prst="rect">
            <a:avLst/>
          </a:prstGeom>
          <a:noFill/>
          <a:ln/>
        </p:spPr>
        <p:txBody>
          <a:bodyPr wrap="square" lIns="0" tIns="0" rIns="0" bIns="0" rtlCol="0" anchor="t"/>
          <a:lstStyle/>
          <a:p>
            <a:pPr marL="0" indent="0" algn="ctr">
              <a:buNone/>
            </a:pPr>
            <a:r>
              <a:rPr lang="en-US" sz="1000" dirty="0">
                <a:solidFill>
                  <a:schemeClr val="tx2"/>
                </a:solidFill>
              </a:rPr>
              <a:t>Scan to read on SSRN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566928" y="566928"/>
            <a:ext cx="8001000" cy="512064"/>
          </a:xfrm>
          <a:prstGeom prst="rect">
            <a:avLst/>
          </a:prstGeom>
          <a:noFill/>
          <a:ln/>
        </p:spPr>
        <p:txBody>
          <a:bodyPr wrap="square" lIns="0" tIns="0" rIns="0" bIns="0" rtlCol="0" anchor="ctr"/>
          <a:lstStyle/>
          <a:p>
            <a:pPr marL="0" indent="0">
              <a:buNone/>
            </a:pPr>
            <a:r>
              <a:rPr lang="en-US" sz="2850" b="1" dirty="0">
                <a:solidFill>
                  <a:schemeClr val="tx1"/>
                </a:solidFill>
              </a:rPr>
              <a:t>Problem: data leaves without an attacker</a:t>
            </a:r>
            <a:endParaRPr lang="en-US" sz="2850" dirty="0"/>
          </a:p>
        </p:txBody>
      </p:sp>
      <p:sp>
        <p:nvSpPr>
          <p:cNvPr id="3" name="Text 1"/>
          <p:cNvSpPr txBox="1"/>
          <p:nvPr/>
        </p:nvSpPr>
        <p:spPr>
          <a:xfrm>
            <a:off x="7653528" y="4864608"/>
            <a:ext cx="914400" cy="219456"/>
          </a:xfrm>
          <a:prstGeom prst="rect">
            <a:avLst/>
          </a:prstGeom>
          <a:noFill/>
          <a:ln/>
        </p:spPr>
        <p:txBody>
          <a:bodyPr wrap="square" lIns="0" tIns="0" rIns="0" bIns="0" rtlCol="0" anchor="ctr"/>
          <a:lstStyle/>
          <a:p>
            <a:pPr marL="0" indent="0" algn="r">
              <a:buNone/>
            </a:pPr>
            <a:r>
              <a:rPr lang="en-US" sz="1130" dirty="0">
                <a:solidFill>
                  <a:schemeClr val="tx2"/>
                </a:solidFill>
                <a:latin typeface="JetBrains Mono" pitchFamily="34" charset="0"/>
                <a:ea typeface="JetBrains Mono" pitchFamily="34" charset="-122"/>
                <a:cs typeface="JetBrains Mono" pitchFamily="34" charset="-120"/>
              </a:rPr>
              <a:t>02 / 16</a:t>
            </a:r>
            <a:endParaRPr lang="en-US" sz="1130" dirty="0"/>
          </a:p>
        </p:txBody>
      </p:sp>
      <p:sp>
        <p:nvSpPr>
          <p:cNvPr id="4" name="Card 01"/>
          <p:cNvSpPr/>
          <p:nvPr/>
        </p:nvSpPr>
        <p:spPr>
          <a:xfrm>
            <a:off x="566928" y="1481328"/>
            <a:ext cx="3904488" cy="1426464"/>
          </a:xfrm>
          <a:prstGeom prst="rect">
            <a:avLst/>
          </a:prstGeom>
          <a:solidFill>
            <a:schemeClr val="bg2"/>
          </a:solidFill>
          <a:ln/>
        </p:spPr>
        <p:txBody>
          <a:bodyPr/>
          <a:lstStyle/>
          <a:p>
            <a:endParaRPr lang="en-US"/>
          </a:p>
        </p:txBody>
      </p:sp>
      <p:sp>
        <p:nvSpPr>
          <p:cNvPr id="5" name="Text 3"/>
          <p:cNvSpPr txBox="1"/>
          <p:nvPr/>
        </p:nvSpPr>
        <p:spPr>
          <a:xfrm>
            <a:off x="740664" y="1591056"/>
            <a:ext cx="640080" cy="475488"/>
          </a:xfrm>
          <a:prstGeom prst="rect">
            <a:avLst/>
          </a:prstGeom>
          <a:noFill/>
          <a:ln/>
        </p:spPr>
        <p:txBody>
          <a:bodyPr wrap="square" lIns="0" tIns="0" rIns="0" bIns="0" rtlCol="0" anchor="ctr"/>
          <a:lstStyle/>
          <a:p>
            <a:pPr marL="0" indent="0">
              <a:buNone/>
            </a:pPr>
            <a:r>
              <a:rPr lang="en-US" sz="2850" b="1" dirty="0">
                <a:solidFill>
                  <a:srgbClr val="00B0F0"/>
                </a:solidFill>
              </a:rPr>
              <a:t>01</a:t>
            </a:r>
            <a:endParaRPr lang="en-US" sz="2850" dirty="0"/>
          </a:p>
        </p:txBody>
      </p:sp>
      <p:sp>
        <p:nvSpPr>
          <p:cNvPr id="6" name="Text 4"/>
          <p:cNvSpPr txBox="1"/>
          <p:nvPr/>
        </p:nvSpPr>
        <p:spPr>
          <a:xfrm>
            <a:off x="1353312" y="1636776"/>
            <a:ext cx="2926080" cy="1097280"/>
          </a:xfrm>
          <a:prstGeom prst="rect">
            <a:avLst/>
          </a:prstGeom>
          <a:noFill/>
          <a:ln/>
        </p:spPr>
        <p:txBody>
          <a:bodyPr wrap="square" lIns="0" tIns="0" rIns="0" bIns="0" rtlCol="0" anchor="t"/>
          <a:lstStyle/>
          <a:p>
            <a:pPr marL="0" indent="0">
              <a:buNone/>
            </a:pPr>
            <a:r>
              <a:rPr lang="en-US" sz="1580" dirty="0">
                <a:solidFill>
                  <a:schemeClr val="tx1"/>
                </a:solidFill>
              </a:rPr>
              <a:t>Coding agents send whole files to public APIs as context</a:t>
            </a:r>
            <a:endParaRPr lang="en-US" sz="1580" dirty="0"/>
          </a:p>
        </p:txBody>
      </p:sp>
      <p:sp>
        <p:nvSpPr>
          <p:cNvPr id="7" name="Card 02"/>
          <p:cNvSpPr/>
          <p:nvPr/>
        </p:nvSpPr>
        <p:spPr>
          <a:xfrm>
            <a:off x="4663440" y="1481328"/>
            <a:ext cx="3904488" cy="1426464"/>
          </a:xfrm>
          <a:prstGeom prst="rect">
            <a:avLst/>
          </a:prstGeom>
          <a:solidFill>
            <a:schemeClr val="bg2"/>
          </a:solidFill>
          <a:ln/>
        </p:spPr>
        <p:txBody>
          <a:bodyPr/>
          <a:lstStyle/>
          <a:p>
            <a:endParaRPr lang="en-US"/>
          </a:p>
        </p:txBody>
      </p:sp>
      <p:sp>
        <p:nvSpPr>
          <p:cNvPr id="8" name="Text 6"/>
          <p:cNvSpPr txBox="1"/>
          <p:nvPr/>
        </p:nvSpPr>
        <p:spPr>
          <a:xfrm>
            <a:off x="4837176" y="1591056"/>
            <a:ext cx="640080" cy="475488"/>
          </a:xfrm>
          <a:prstGeom prst="rect">
            <a:avLst/>
          </a:prstGeom>
          <a:noFill/>
          <a:ln/>
        </p:spPr>
        <p:txBody>
          <a:bodyPr wrap="square" lIns="0" tIns="0" rIns="0" bIns="0" rtlCol="0" anchor="ctr"/>
          <a:lstStyle/>
          <a:p>
            <a:pPr marL="0" indent="0">
              <a:buNone/>
            </a:pPr>
            <a:r>
              <a:rPr lang="en-US" sz="2850" b="1" dirty="0">
                <a:solidFill>
                  <a:srgbClr val="00B0F0"/>
                </a:solidFill>
              </a:rPr>
              <a:t>02</a:t>
            </a:r>
            <a:endParaRPr lang="en-US" sz="2850" dirty="0"/>
          </a:p>
        </p:txBody>
      </p:sp>
      <p:sp>
        <p:nvSpPr>
          <p:cNvPr id="9" name="Text 7"/>
          <p:cNvSpPr txBox="1"/>
          <p:nvPr/>
        </p:nvSpPr>
        <p:spPr>
          <a:xfrm>
            <a:off x="5449824" y="1636776"/>
            <a:ext cx="2926080" cy="1097280"/>
          </a:xfrm>
          <a:prstGeom prst="rect">
            <a:avLst/>
          </a:prstGeom>
          <a:noFill/>
          <a:ln/>
        </p:spPr>
        <p:txBody>
          <a:bodyPr wrap="square" lIns="0" tIns="0" rIns="0" bIns="0" rtlCol="0" anchor="t"/>
          <a:lstStyle/>
          <a:p>
            <a:pPr marL="0" indent="0">
              <a:buNone/>
            </a:pPr>
            <a:r>
              <a:rPr lang="en-US" sz="1580" dirty="0">
                <a:solidFill>
                  <a:schemeClr val="tx1"/>
                </a:solidFill>
              </a:rPr>
              <a:t>People paste internal text into browser chats</a:t>
            </a:r>
            <a:endParaRPr lang="en-US" sz="1580" dirty="0"/>
          </a:p>
        </p:txBody>
      </p:sp>
      <p:sp>
        <p:nvSpPr>
          <p:cNvPr id="10" name="Card 03"/>
          <p:cNvSpPr/>
          <p:nvPr/>
        </p:nvSpPr>
        <p:spPr>
          <a:xfrm>
            <a:off x="566928" y="3072384"/>
            <a:ext cx="3904488" cy="1426464"/>
          </a:xfrm>
          <a:prstGeom prst="rect">
            <a:avLst/>
          </a:prstGeom>
          <a:solidFill>
            <a:schemeClr val="bg2"/>
          </a:solidFill>
          <a:ln/>
        </p:spPr>
        <p:txBody>
          <a:bodyPr/>
          <a:lstStyle/>
          <a:p>
            <a:endParaRPr lang="en-US"/>
          </a:p>
        </p:txBody>
      </p:sp>
      <p:sp>
        <p:nvSpPr>
          <p:cNvPr id="11" name="Text 9"/>
          <p:cNvSpPr txBox="1"/>
          <p:nvPr/>
        </p:nvSpPr>
        <p:spPr>
          <a:xfrm>
            <a:off x="740664" y="3182112"/>
            <a:ext cx="640080" cy="475488"/>
          </a:xfrm>
          <a:prstGeom prst="rect">
            <a:avLst/>
          </a:prstGeom>
          <a:noFill/>
          <a:ln/>
        </p:spPr>
        <p:txBody>
          <a:bodyPr wrap="square" lIns="0" tIns="0" rIns="0" bIns="0" rtlCol="0" anchor="ctr"/>
          <a:lstStyle/>
          <a:p>
            <a:pPr marL="0" indent="0">
              <a:buNone/>
            </a:pPr>
            <a:r>
              <a:rPr lang="en-US" sz="2850" b="1" dirty="0">
                <a:solidFill>
                  <a:srgbClr val="00B0F0"/>
                </a:solidFill>
              </a:rPr>
              <a:t>03</a:t>
            </a:r>
            <a:endParaRPr lang="en-US" sz="2850" dirty="0"/>
          </a:p>
        </p:txBody>
      </p:sp>
      <p:sp>
        <p:nvSpPr>
          <p:cNvPr id="12" name="Text 10"/>
          <p:cNvSpPr txBox="1"/>
          <p:nvPr/>
        </p:nvSpPr>
        <p:spPr>
          <a:xfrm>
            <a:off x="1353312" y="3227832"/>
            <a:ext cx="2926080" cy="1097280"/>
          </a:xfrm>
          <a:prstGeom prst="rect">
            <a:avLst/>
          </a:prstGeom>
          <a:noFill/>
          <a:ln/>
        </p:spPr>
        <p:txBody>
          <a:bodyPr wrap="square" lIns="0" tIns="0" rIns="0" bIns="0" rtlCol="0" anchor="t"/>
          <a:lstStyle/>
          <a:p>
            <a:pPr marL="0" indent="0">
              <a:buNone/>
            </a:pPr>
            <a:r>
              <a:rPr lang="en-US" sz="1580" dirty="0">
                <a:solidFill>
                  <a:schemeClr val="tx1"/>
                </a:solidFill>
              </a:rPr>
              <a:t>A secret in one tool result rides along on every later turn</a:t>
            </a:r>
            <a:endParaRPr lang="en-US" sz="1580" dirty="0"/>
          </a:p>
        </p:txBody>
      </p:sp>
      <p:sp>
        <p:nvSpPr>
          <p:cNvPr id="13" name="Card 04"/>
          <p:cNvSpPr/>
          <p:nvPr/>
        </p:nvSpPr>
        <p:spPr>
          <a:xfrm>
            <a:off x="4663440" y="3072384"/>
            <a:ext cx="3904488" cy="1426464"/>
          </a:xfrm>
          <a:prstGeom prst="rect">
            <a:avLst/>
          </a:prstGeom>
          <a:solidFill>
            <a:schemeClr val="bg2"/>
          </a:solidFill>
          <a:ln/>
        </p:spPr>
        <p:txBody>
          <a:bodyPr/>
          <a:lstStyle/>
          <a:p>
            <a:endParaRPr lang="en-US"/>
          </a:p>
        </p:txBody>
      </p:sp>
      <p:sp>
        <p:nvSpPr>
          <p:cNvPr id="14" name="Text 12"/>
          <p:cNvSpPr txBox="1"/>
          <p:nvPr/>
        </p:nvSpPr>
        <p:spPr>
          <a:xfrm>
            <a:off x="4837176" y="3182112"/>
            <a:ext cx="640080" cy="475488"/>
          </a:xfrm>
          <a:prstGeom prst="rect">
            <a:avLst/>
          </a:prstGeom>
          <a:noFill/>
          <a:ln/>
        </p:spPr>
        <p:txBody>
          <a:bodyPr wrap="square" lIns="0" tIns="0" rIns="0" bIns="0" rtlCol="0" anchor="ctr"/>
          <a:lstStyle/>
          <a:p>
            <a:pPr marL="0" indent="0">
              <a:buNone/>
            </a:pPr>
            <a:r>
              <a:rPr lang="en-US" sz="2850" b="1" dirty="0">
                <a:solidFill>
                  <a:srgbClr val="00B0F0"/>
                </a:solidFill>
              </a:rPr>
              <a:t>04</a:t>
            </a:r>
            <a:endParaRPr lang="en-US" sz="2850" dirty="0"/>
          </a:p>
        </p:txBody>
      </p:sp>
      <p:sp>
        <p:nvSpPr>
          <p:cNvPr id="15" name="Text 13"/>
          <p:cNvSpPr txBox="1"/>
          <p:nvPr/>
        </p:nvSpPr>
        <p:spPr>
          <a:xfrm>
            <a:off x="5449824" y="3227832"/>
            <a:ext cx="2926080" cy="1097280"/>
          </a:xfrm>
          <a:prstGeom prst="rect">
            <a:avLst/>
          </a:prstGeom>
          <a:noFill/>
          <a:ln/>
        </p:spPr>
        <p:txBody>
          <a:bodyPr wrap="square" lIns="0" tIns="0" rIns="0" bIns="0" rtlCol="0" anchor="t"/>
          <a:lstStyle/>
          <a:p>
            <a:pPr marL="0" indent="0">
              <a:buNone/>
            </a:pPr>
            <a:r>
              <a:rPr lang="en-US" sz="1580" dirty="0">
                <a:solidFill>
                  <a:schemeClr val="tx1"/>
                </a:solidFill>
              </a:rPr>
              <a:t>Nobody knows which AI tools are running, or how much</a:t>
            </a:r>
            <a:endParaRPr lang="en-US" sz="15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566928" y="566928"/>
            <a:ext cx="8001000" cy="512064"/>
          </a:xfrm>
          <a:prstGeom prst="rect">
            <a:avLst/>
          </a:prstGeom>
          <a:noFill/>
          <a:ln/>
        </p:spPr>
        <p:txBody>
          <a:bodyPr wrap="square" lIns="0" tIns="0" rIns="0" bIns="0" rtlCol="0" anchor="ctr"/>
          <a:lstStyle/>
          <a:p>
            <a:pPr marL="0" indent="0">
              <a:buNone/>
            </a:pPr>
            <a:r>
              <a:rPr lang="en-US" sz="2850" b="1" dirty="0">
                <a:solidFill>
                  <a:schemeClr val="tx1"/>
                </a:solidFill>
              </a:rPr>
              <a:t>Two directions, two checkpoints</a:t>
            </a:r>
            <a:endParaRPr lang="en-US" sz="2850" dirty="0"/>
          </a:p>
        </p:txBody>
      </p:sp>
      <p:sp>
        <p:nvSpPr>
          <p:cNvPr id="3" name="Text 1"/>
          <p:cNvSpPr txBox="1"/>
          <p:nvPr/>
        </p:nvSpPr>
        <p:spPr>
          <a:xfrm>
            <a:off x="7653528" y="4864608"/>
            <a:ext cx="914400" cy="219456"/>
          </a:xfrm>
          <a:prstGeom prst="rect">
            <a:avLst/>
          </a:prstGeom>
          <a:noFill/>
          <a:ln/>
        </p:spPr>
        <p:txBody>
          <a:bodyPr wrap="square" lIns="0" tIns="0" rIns="0" bIns="0" rtlCol="0" anchor="ctr"/>
          <a:lstStyle/>
          <a:p>
            <a:pPr marL="0" indent="0" algn="r">
              <a:buNone/>
            </a:pPr>
            <a:r>
              <a:rPr lang="en-US" sz="1130" dirty="0">
                <a:solidFill>
                  <a:schemeClr val="tx2"/>
                </a:solidFill>
                <a:latin typeface="JetBrains Mono" pitchFamily="34" charset="0"/>
                <a:ea typeface="JetBrains Mono" pitchFamily="34" charset="-122"/>
                <a:cs typeface="JetBrains Mono" pitchFamily="34" charset="-120"/>
              </a:rPr>
              <a:t>03 / 16</a:t>
            </a:r>
            <a:endParaRPr lang="en-US" sz="1130" dirty="0"/>
          </a:p>
        </p:txBody>
      </p:sp>
      <p:sp>
        <p:nvSpPr>
          <p:cNvPr id="4" name="SwarmSentinel"/>
          <p:cNvSpPr/>
          <p:nvPr/>
        </p:nvSpPr>
        <p:spPr>
          <a:xfrm>
            <a:off x="566928" y="1417320"/>
            <a:ext cx="2743200" cy="2468880"/>
          </a:xfrm>
          <a:prstGeom prst="rect">
            <a:avLst/>
          </a:prstGeom>
          <a:solidFill>
            <a:schemeClr val="bg2"/>
          </a:solidFill>
          <a:ln/>
        </p:spPr>
        <p:txBody>
          <a:bodyPr/>
          <a:lstStyle/>
          <a:p>
            <a:endParaRPr lang="en-US"/>
          </a:p>
        </p:txBody>
      </p:sp>
      <p:sp>
        <p:nvSpPr>
          <p:cNvPr id="5" name="Text 3"/>
          <p:cNvSpPr txBox="1"/>
          <p:nvPr/>
        </p:nvSpPr>
        <p:spPr>
          <a:xfrm>
            <a:off x="795528" y="1572768"/>
            <a:ext cx="2286000" cy="365760"/>
          </a:xfrm>
          <a:prstGeom prst="rect">
            <a:avLst/>
          </a:prstGeom>
          <a:noFill/>
          <a:ln/>
        </p:spPr>
        <p:txBody>
          <a:bodyPr wrap="square" lIns="0" tIns="0" rIns="0" bIns="0" rtlCol="0" anchor="t"/>
          <a:lstStyle/>
          <a:p>
            <a:pPr marL="0" indent="0">
              <a:buNone/>
            </a:pPr>
            <a:r>
              <a:rPr lang="en-US" sz="2000" b="1" dirty="0">
                <a:solidFill>
                  <a:srgbClr val="00B0F0"/>
                </a:solidFill>
              </a:rPr>
              <a:t>SwarmSentinel</a:t>
            </a:r>
            <a:endParaRPr lang="en-US" sz="2000" dirty="0"/>
          </a:p>
        </p:txBody>
      </p:sp>
      <p:sp>
        <p:nvSpPr>
          <p:cNvPr id="6" name="Text 4"/>
          <p:cNvSpPr txBox="1"/>
          <p:nvPr/>
        </p:nvSpPr>
        <p:spPr>
          <a:xfrm>
            <a:off x="795528" y="1984248"/>
            <a:ext cx="2286000" cy="274320"/>
          </a:xfrm>
          <a:prstGeom prst="rect">
            <a:avLst/>
          </a:prstGeom>
          <a:noFill/>
          <a:ln/>
        </p:spPr>
        <p:txBody>
          <a:bodyPr wrap="square" lIns="0" tIns="0" rIns="0" bIns="0" rtlCol="0" anchor="t"/>
          <a:lstStyle/>
          <a:p>
            <a:pPr marL="0" indent="0">
              <a:buNone/>
            </a:pPr>
            <a:r>
              <a:rPr lang="en-US" sz="1400" b="1" dirty="0">
                <a:solidFill>
                  <a:schemeClr val="tx1"/>
                </a:solidFill>
              </a:rPr>
              <a:t>Instructions in</a:t>
            </a:r>
            <a:endParaRPr lang="en-US" sz="1400" dirty="0"/>
          </a:p>
        </p:txBody>
      </p:sp>
      <p:sp>
        <p:nvSpPr>
          <p:cNvPr id="7" name="Text 5"/>
          <p:cNvSpPr txBox="1"/>
          <p:nvPr/>
        </p:nvSpPr>
        <p:spPr>
          <a:xfrm>
            <a:off x="795528" y="2258568"/>
            <a:ext cx="2286000" cy="256032"/>
          </a:xfrm>
          <a:prstGeom prst="rect">
            <a:avLst/>
          </a:prstGeom>
          <a:noFill/>
          <a:ln/>
        </p:spPr>
        <p:txBody>
          <a:bodyPr wrap="square" lIns="0" tIns="0" rIns="0" bIns="0" rtlCol="0" anchor="t"/>
          <a:lstStyle/>
          <a:p>
            <a:pPr marL="0" indent="0">
              <a:buNone/>
            </a:pPr>
            <a:r>
              <a:rPr lang="en-US" sz="1200" dirty="0">
                <a:solidFill>
                  <a:schemeClr val="tx2"/>
                </a:solidFill>
                <a:latin typeface="JetBrains Mono" pitchFamily="34" charset="0"/>
                <a:ea typeface="JetBrains Mono" pitchFamily="34" charset="-122"/>
                <a:cs typeface="JetBrains Mono" pitchFamily="34" charset="-120"/>
              </a:rPr>
              <a:t>integrity</a:t>
            </a:r>
            <a:endParaRPr lang="en-US" sz="1200" dirty="0"/>
          </a:p>
        </p:txBody>
      </p:sp>
      <p:sp>
        <p:nvSpPr>
          <p:cNvPr id="8" name="Text 6"/>
          <p:cNvSpPr txBox="1"/>
          <p:nvPr/>
        </p:nvSpPr>
        <p:spPr>
          <a:xfrm>
            <a:off x="795528" y="2651760"/>
            <a:ext cx="2286000" cy="1097280"/>
          </a:xfrm>
          <a:prstGeom prst="rect">
            <a:avLst/>
          </a:prstGeom>
          <a:noFill/>
          <a:ln/>
        </p:spPr>
        <p:txBody>
          <a:bodyPr wrap="square" lIns="0" tIns="0" rIns="0" bIns="0" rtlCol="0" anchor="t"/>
          <a:lstStyle/>
          <a:p>
            <a:pPr marL="0" indent="0">
              <a:buNone/>
            </a:pPr>
            <a:r>
              <a:rPr lang="en-US" sz="1300" dirty="0">
                <a:solidFill>
                  <a:schemeClr val="tx1"/>
                </a:solidFill>
              </a:rPr>
              <a:t>Decides every tool call before it runs: scopes, taint, tripwires, revocation.</a:t>
            </a:r>
            <a:endParaRPr lang="en-US" sz="1300" dirty="0"/>
          </a:p>
        </p:txBody>
      </p:sp>
      <p:sp>
        <p:nvSpPr>
          <p:cNvPr id="9" name="SwarmSheriff"/>
          <p:cNvSpPr/>
          <p:nvPr/>
        </p:nvSpPr>
        <p:spPr>
          <a:xfrm>
            <a:off x="5824728" y="1417320"/>
            <a:ext cx="2743200" cy="2468880"/>
          </a:xfrm>
          <a:prstGeom prst="rect">
            <a:avLst/>
          </a:prstGeom>
          <a:solidFill>
            <a:schemeClr val="bg2"/>
          </a:solidFill>
          <a:ln w="15875">
            <a:solidFill>
              <a:srgbClr val="00B0F0"/>
            </a:solidFill>
            <a:prstDash val="solid"/>
          </a:ln>
        </p:spPr>
        <p:txBody>
          <a:bodyPr/>
          <a:lstStyle/>
          <a:p>
            <a:endParaRPr lang="en-US"/>
          </a:p>
        </p:txBody>
      </p:sp>
      <p:sp>
        <p:nvSpPr>
          <p:cNvPr id="10" name="Text 8"/>
          <p:cNvSpPr txBox="1"/>
          <p:nvPr/>
        </p:nvSpPr>
        <p:spPr>
          <a:xfrm>
            <a:off x="6053328" y="1572768"/>
            <a:ext cx="2286000" cy="365760"/>
          </a:xfrm>
          <a:prstGeom prst="rect">
            <a:avLst/>
          </a:prstGeom>
          <a:noFill/>
          <a:ln/>
        </p:spPr>
        <p:txBody>
          <a:bodyPr wrap="square" lIns="0" tIns="0" rIns="0" bIns="0" rtlCol="0" anchor="t"/>
          <a:lstStyle/>
          <a:p>
            <a:pPr marL="0" indent="0">
              <a:buNone/>
            </a:pPr>
            <a:r>
              <a:rPr lang="en-US" sz="2000" b="1" dirty="0">
                <a:solidFill>
                  <a:srgbClr val="00B0F0"/>
                </a:solidFill>
              </a:rPr>
              <a:t>SwarmSheriff</a:t>
            </a:r>
            <a:endParaRPr lang="en-US" sz="2000" dirty="0"/>
          </a:p>
        </p:txBody>
      </p:sp>
      <p:sp>
        <p:nvSpPr>
          <p:cNvPr id="11" name="Text 9"/>
          <p:cNvSpPr txBox="1"/>
          <p:nvPr/>
        </p:nvSpPr>
        <p:spPr>
          <a:xfrm>
            <a:off x="6053328" y="1984248"/>
            <a:ext cx="2286000" cy="274320"/>
          </a:xfrm>
          <a:prstGeom prst="rect">
            <a:avLst/>
          </a:prstGeom>
          <a:noFill/>
          <a:ln/>
        </p:spPr>
        <p:txBody>
          <a:bodyPr wrap="square" lIns="0" tIns="0" rIns="0" bIns="0" rtlCol="0" anchor="t"/>
          <a:lstStyle/>
          <a:p>
            <a:pPr marL="0" indent="0">
              <a:buNone/>
            </a:pPr>
            <a:r>
              <a:rPr lang="en-US" sz="1400" b="1" dirty="0">
                <a:solidFill>
                  <a:schemeClr val="tx1"/>
                </a:solidFill>
              </a:rPr>
              <a:t>Data out</a:t>
            </a:r>
            <a:endParaRPr lang="en-US" sz="1400" dirty="0"/>
          </a:p>
        </p:txBody>
      </p:sp>
      <p:sp>
        <p:nvSpPr>
          <p:cNvPr id="12" name="Text 10"/>
          <p:cNvSpPr txBox="1"/>
          <p:nvPr/>
        </p:nvSpPr>
        <p:spPr>
          <a:xfrm>
            <a:off x="6053328" y="2258568"/>
            <a:ext cx="2286000" cy="256032"/>
          </a:xfrm>
          <a:prstGeom prst="rect">
            <a:avLst/>
          </a:prstGeom>
          <a:noFill/>
          <a:ln/>
        </p:spPr>
        <p:txBody>
          <a:bodyPr wrap="square" lIns="0" tIns="0" rIns="0" bIns="0" rtlCol="0" anchor="t"/>
          <a:lstStyle/>
          <a:p>
            <a:pPr marL="0" indent="0">
              <a:buNone/>
            </a:pPr>
            <a:r>
              <a:rPr lang="en-US" sz="1200" dirty="0">
                <a:solidFill>
                  <a:schemeClr val="tx2"/>
                </a:solidFill>
                <a:latin typeface="JetBrains Mono" pitchFamily="34" charset="0"/>
                <a:ea typeface="JetBrains Mono" pitchFamily="34" charset="-122"/>
                <a:cs typeface="JetBrains Mono" pitchFamily="34" charset="-120"/>
              </a:rPr>
              <a:t>confidentiality</a:t>
            </a:r>
            <a:endParaRPr lang="en-US" sz="1200" dirty="0"/>
          </a:p>
        </p:txBody>
      </p:sp>
      <p:sp>
        <p:nvSpPr>
          <p:cNvPr id="13" name="Text 11"/>
          <p:cNvSpPr txBox="1"/>
          <p:nvPr/>
        </p:nvSpPr>
        <p:spPr>
          <a:xfrm>
            <a:off x="6053328" y="2651760"/>
            <a:ext cx="2286000" cy="1097280"/>
          </a:xfrm>
          <a:prstGeom prst="rect">
            <a:avLst/>
          </a:prstGeom>
          <a:noFill/>
          <a:ln/>
        </p:spPr>
        <p:txBody>
          <a:bodyPr wrap="square" lIns="0" tIns="0" rIns="0" bIns="0" rtlCol="0" anchor="t"/>
          <a:lstStyle/>
          <a:p>
            <a:pPr marL="0" indent="0">
              <a:buNone/>
            </a:pPr>
            <a:r>
              <a:rPr lang="en-US" sz="1300" dirty="0">
                <a:solidFill>
                  <a:schemeClr val="tx1"/>
                </a:solidFill>
              </a:rPr>
              <a:t>Decides every LLM request before it leaves: classes, destinations, verdicts.</a:t>
            </a:r>
            <a:endParaRPr lang="en-US" sz="1300" dirty="0"/>
          </a:p>
        </p:txBody>
      </p:sp>
      <p:sp>
        <p:nvSpPr>
          <p:cNvPr id="14" name="Agent"/>
          <p:cNvSpPr/>
          <p:nvPr/>
        </p:nvSpPr>
        <p:spPr>
          <a:xfrm>
            <a:off x="3840480" y="2286000"/>
            <a:ext cx="1463040" cy="731520"/>
          </a:xfrm>
          <a:prstGeom prst="rect">
            <a:avLst/>
          </a:prstGeom>
          <a:solidFill>
            <a:schemeClr val="bg2"/>
          </a:solidFill>
          <a:ln w="12700">
            <a:solidFill>
              <a:srgbClr val="222A35"/>
            </a:solidFill>
            <a:prstDash val="solid"/>
          </a:ln>
        </p:spPr>
        <p:txBody>
          <a:bodyPr/>
          <a:lstStyle/>
          <a:p>
            <a:endParaRPr lang="en-US"/>
          </a:p>
        </p:txBody>
      </p:sp>
      <p:sp>
        <p:nvSpPr>
          <p:cNvPr id="15" name="Text 13"/>
          <p:cNvSpPr txBox="1"/>
          <p:nvPr/>
        </p:nvSpPr>
        <p:spPr>
          <a:xfrm>
            <a:off x="3840480" y="2286000"/>
            <a:ext cx="1463040" cy="731520"/>
          </a:xfrm>
          <a:prstGeom prst="rect">
            <a:avLst/>
          </a:prstGeom>
          <a:noFill/>
          <a:ln/>
        </p:spPr>
        <p:txBody>
          <a:bodyPr wrap="square" lIns="0" tIns="0" rIns="0" bIns="0" rtlCol="0" anchor="ctr"/>
          <a:lstStyle/>
          <a:p>
            <a:pPr marL="0" indent="0" algn="ctr">
              <a:buNone/>
            </a:pPr>
            <a:r>
              <a:rPr lang="en-US" sz="1600" b="1" dirty="0">
                <a:solidFill>
                  <a:schemeClr val="tx1"/>
                </a:solidFill>
              </a:rPr>
              <a:t>Agent</a:t>
            </a:r>
            <a:endParaRPr lang="en-US" sz="1600" dirty="0"/>
          </a:p>
        </p:txBody>
      </p:sp>
      <p:sp>
        <p:nvSpPr>
          <p:cNvPr id="16" name="Shape 14"/>
          <p:cNvSpPr/>
          <p:nvPr/>
        </p:nvSpPr>
        <p:spPr>
          <a:xfrm>
            <a:off x="3364992" y="2651760"/>
            <a:ext cx="438912" cy="0"/>
          </a:xfrm>
          <a:prstGeom prst="line">
            <a:avLst/>
          </a:prstGeom>
          <a:noFill/>
          <a:ln w="15875">
            <a:solidFill>
              <a:srgbClr val="29BC86"/>
            </a:solidFill>
            <a:prstDash val="solid"/>
            <a:tailEnd type="triangle"/>
          </a:ln>
        </p:spPr>
        <p:txBody>
          <a:bodyPr/>
          <a:lstStyle/>
          <a:p>
            <a:endParaRPr lang="en-US"/>
          </a:p>
        </p:txBody>
      </p:sp>
      <p:sp>
        <p:nvSpPr>
          <p:cNvPr id="17" name="Shape 15"/>
          <p:cNvSpPr/>
          <p:nvPr/>
        </p:nvSpPr>
        <p:spPr>
          <a:xfrm>
            <a:off x="5340096" y="2651760"/>
            <a:ext cx="448056" cy="0"/>
          </a:xfrm>
          <a:prstGeom prst="line">
            <a:avLst/>
          </a:prstGeom>
          <a:noFill/>
          <a:ln w="15875">
            <a:solidFill>
              <a:srgbClr val="29BC86"/>
            </a:solidFill>
            <a:prstDash val="solid"/>
            <a:tailEnd type="triangle"/>
          </a:ln>
        </p:spPr>
        <p:txBody>
          <a:bodyPr/>
          <a:lstStyle/>
          <a:p>
            <a:endParaRPr lang="en-US"/>
          </a:p>
        </p:txBody>
      </p:sp>
      <p:sp>
        <p:nvSpPr>
          <p:cNvPr id="18" name="Text 16"/>
          <p:cNvSpPr txBox="1"/>
          <p:nvPr/>
        </p:nvSpPr>
        <p:spPr>
          <a:xfrm>
            <a:off x="566928" y="4069080"/>
            <a:ext cx="8001000" cy="502920"/>
          </a:xfrm>
          <a:prstGeom prst="rect">
            <a:avLst/>
          </a:prstGeom>
          <a:noFill/>
          <a:ln/>
        </p:spPr>
        <p:txBody>
          <a:bodyPr wrap="square" lIns="0" tIns="0" rIns="0" bIns="0" rtlCol="0" anchor="t"/>
          <a:lstStyle/>
          <a:p>
            <a:pPr marL="0" indent="0">
              <a:buNone/>
            </a:pPr>
            <a:r>
              <a:rPr lang="en-US" sz="1300" dirty="0">
                <a:solidFill>
                  <a:schemeClr val="tx2"/>
                </a:solidFill>
              </a:rPr>
              <a:t>Separate processes that talk over HTTP. Each SwarmSheriff decision can reach SwarmSentinel as a confidentiality label it carries across agents.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566928" y="566928"/>
            <a:ext cx="8001000" cy="512064"/>
          </a:xfrm>
          <a:prstGeom prst="rect">
            <a:avLst/>
          </a:prstGeom>
          <a:noFill/>
          <a:ln/>
        </p:spPr>
        <p:txBody>
          <a:bodyPr wrap="square" lIns="0" tIns="0" rIns="0" bIns="0" rtlCol="0" anchor="ctr"/>
          <a:lstStyle/>
          <a:p>
            <a:pPr marL="0" indent="0">
              <a:buNone/>
            </a:pPr>
            <a:r>
              <a:rPr lang="en-US" sz="2850" b="1" dirty="0">
                <a:solidFill>
                  <a:schemeClr val="tx1"/>
                </a:solidFill>
              </a:rPr>
              <a:t>Architecture: decide before the request leaves</a:t>
            </a:r>
            <a:endParaRPr lang="en-US" sz="2850" dirty="0"/>
          </a:p>
        </p:txBody>
      </p:sp>
      <p:sp>
        <p:nvSpPr>
          <p:cNvPr id="3" name="Text 1"/>
          <p:cNvSpPr txBox="1"/>
          <p:nvPr/>
        </p:nvSpPr>
        <p:spPr>
          <a:xfrm>
            <a:off x="7653528" y="4864608"/>
            <a:ext cx="914400" cy="219456"/>
          </a:xfrm>
          <a:prstGeom prst="rect">
            <a:avLst/>
          </a:prstGeom>
          <a:noFill/>
          <a:ln/>
        </p:spPr>
        <p:txBody>
          <a:bodyPr wrap="square" lIns="0" tIns="0" rIns="0" bIns="0" rtlCol="0" anchor="ctr"/>
          <a:lstStyle/>
          <a:p>
            <a:pPr marL="0" indent="0" algn="r">
              <a:buNone/>
            </a:pPr>
            <a:r>
              <a:rPr lang="en-US" sz="1130" dirty="0">
                <a:solidFill>
                  <a:schemeClr val="tx2"/>
                </a:solidFill>
                <a:latin typeface="JetBrains Mono" pitchFamily="34" charset="0"/>
                <a:ea typeface="JetBrains Mono" pitchFamily="34" charset="-122"/>
                <a:cs typeface="JetBrains Mono" pitchFamily="34" charset="-120"/>
              </a:rPr>
              <a:t>04 / 16</a:t>
            </a:r>
            <a:endParaRPr lang="en-US" sz="1130" dirty="0"/>
          </a:p>
        </p:txBody>
      </p:sp>
      <p:sp>
        <p:nvSpPr>
          <p:cNvPr id="4" name="Agent / SDK"/>
          <p:cNvSpPr/>
          <p:nvPr/>
        </p:nvSpPr>
        <p:spPr>
          <a:xfrm>
            <a:off x="566928" y="1371600"/>
            <a:ext cx="1417320" cy="457200"/>
          </a:xfrm>
          <a:prstGeom prst="rect">
            <a:avLst/>
          </a:prstGeom>
          <a:solidFill>
            <a:schemeClr val="bg2"/>
          </a:solidFill>
          <a:ln w="12700">
            <a:solidFill>
              <a:srgbClr val="222A35"/>
            </a:solidFill>
            <a:prstDash val="solid"/>
          </a:ln>
        </p:spPr>
        <p:txBody>
          <a:bodyPr/>
          <a:lstStyle/>
          <a:p>
            <a:endParaRPr lang="en-US"/>
          </a:p>
        </p:txBody>
      </p:sp>
      <p:sp>
        <p:nvSpPr>
          <p:cNvPr id="5" name="Text 3"/>
          <p:cNvSpPr txBox="1"/>
          <p:nvPr/>
        </p:nvSpPr>
        <p:spPr>
          <a:xfrm>
            <a:off x="566928" y="1371600"/>
            <a:ext cx="1417320" cy="457200"/>
          </a:xfrm>
          <a:prstGeom prst="rect">
            <a:avLst/>
          </a:prstGeom>
          <a:noFill/>
          <a:ln/>
        </p:spPr>
        <p:txBody>
          <a:bodyPr wrap="square" lIns="0" tIns="0" rIns="0" bIns="0" rtlCol="0" anchor="ctr"/>
          <a:lstStyle/>
          <a:p>
            <a:pPr marL="0" indent="0" algn="ctr">
              <a:buNone/>
            </a:pPr>
            <a:r>
              <a:rPr lang="en-US" sz="1200" b="1" dirty="0">
                <a:solidFill>
                  <a:schemeClr val="tx1"/>
                </a:solidFill>
              </a:rPr>
              <a:t>Agent / SDK</a:t>
            </a:r>
            <a:endParaRPr lang="en-US" sz="1200" dirty="0"/>
          </a:p>
        </p:txBody>
      </p:sp>
      <p:sp>
        <p:nvSpPr>
          <p:cNvPr id="6" name="SwarmSheriff proxy"/>
          <p:cNvSpPr/>
          <p:nvPr/>
        </p:nvSpPr>
        <p:spPr>
          <a:xfrm>
            <a:off x="2395728" y="1371600"/>
            <a:ext cx="1691640" cy="457200"/>
          </a:xfrm>
          <a:prstGeom prst="rect">
            <a:avLst/>
          </a:prstGeom>
          <a:solidFill>
            <a:schemeClr val="bg2"/>
          </a:solidFill>
          <a:ln w="19050">
            <a:solidFill>
              <a:srgbClr val="00B0F0"/>
            </a:solidFill>
            <a:prstDash val="solid"/>
          </a:ln>
        </p:spPr>
        <p:txBody>
          <a:bodyPr/>
          <a:lstStyle/>
          <a:p>
            <a:endParaRPr lang="en-US"/>
          </a:p>
        </p:txBody>
      </p:sp>
      <p:sp>
        <p:nvSpPr>
          <p:cNvPr id="7" name="Text 5"/>
          <p:cNvSpPr txBox="1"/>
          <p:nvPr/>
        </p:nvSpPr>
        <p:spPr>
          <a:xfrm>
            <a:off x="2395728" y="1371600"/>
            <a:ext cx="1691640" cy="457200"/>
          </a:xfrm>
          <a:prstGeom prst="rect">
            <a:avLst/>
          </a:prstGeom>
          <a:noFill/>
          <a:ln/>
        </p:spPr>
        <p:txBody>
          <a:bodyPr wrap="square" lIns="0" tIns="0" rIns="0" bIns="0" rtlCol="0" anchor="ctr"/>
          <a:lstStyle/>
          <a:p>
            <a:pPr marL="0" indent="0" algn="ctr">
              <a:buNone/>
            </a:pPr>
            <a:r>
              <a:rPr lang="en-US" sz="1200" b="1" dirty="0">
                <a:solidFill>
                  <a:srgbClr val="00B0F0"/>
                </a:solidFill>
              </a:rPr>
              <a:t>SwarmSheriff proxy</a:t>
            </a:r>
            <a:endParaRPr lang="en-US" sz="1200" dirty="0"/>
          </a:p>
        </p:txBody>
      </p:sp>
      <p:sp>
        <p:nvSpPr>
          <p:cNvPr id="8" name="decide"/>
          <p:cNvSpPr/>
          <p:nvPr/>
        </p:nvSpPr>
        <p:spPr>
          <a:xfrm>
            <a:off x="4498848" y="1371600"/>
            <a:ext cx="1188720" cy="457200"/>
          </a:xfrm>
          <a:prstGeom prst="rect">
            <a:avLst/>
          </a:prstGeom>
          <a:solidFill>
            <a:schemeClr val="bg2"/>
          </a:solidFill>
          <a:ln w="12700">
            <a:solidFill>
              <a:srgbClr val="222A35"/>
            </a:solidFill>
            <a:prstDash val="solid"/>
          </a:ln>
        </p:spPr>
        <p:txBody>
          <a:bodyPr/>
          <a:lstStyle/>
          <a:p>
            <a:endParaRPr lang="en-US"/>
          </a:p>
        </p:txBody>
      </p:sp>
      <p:sp>
        <p:nvSpPr>
          <p:cNvPr id="9" name="Text 7"/>
          <p:cNvSpPr txBox="1"/>
          <p:nvPr/>
        </p:nvSpPr>
        <p:spPr>
          <a:xfrm>
            <a:off x="4498848" y="1371600"/>
            <a:ext cx="1188720" cy="457200"/>
          </a:xfrm>
          <a:prstGeom prst="rect">
            <a:avLst/>
          </a:prstGeom>
          <a:noFill/>
          <a:ln/>
        </p:spPr>
        <p:txBody>
          <a:bodyPr wrap="square" lIns="0" tIns="0" rIns="0" bIns="0" rtlCol="0" anchor="ctr"/>
          <a:lstStyle/>
          <a:p>
            <a:pPr marL="0" indent="0" algn="ctr">
              <a:buNone/>
            </a:pPr>
            <a:r>
              <a:rPr lang="en-US" sz="1200" b="1" dirty="0">
                <a:solidFill>
                  <a:schemeClr val="tx1"/>
                </a:solidFill>
              </a:rPr>
              <a:t>decide</a:t>
            </a:r>
            <a:endParaRPr lang="en-US" sz="1200" dirty="0"/>
          </a:p>
        </p:txBody>
      </p:sp>
      <p:sp>
        <p:nvSpPr>
          <p:cNvPr id="10" name="LLM API (upstream)"/>
          <p:cNvSpPr/>
          <p:nvPr/>
        </p:nvSpPr>
        <p:spPr>
          <a:xfrm>
            <a:off x="6099048" y="1371600"/>
            <a:ext cx="2468880" cy="457200"/>
          </a:xfrm>
          <a:prstGeom prst="rect">
            <a:avLst/>
          </a:prstGeom>
          <a:solidFill>
            <a:schemeClr val="bg2"/>
          </a:solidFill>
          <a:ln w="12700">
            <a:solidFill>
              <a:srgbClr val="222A35"/>
            </a:solidFill>
            <a:prstDash val="solid"/>
          </a:ln>
        </p:spPr>
        <p:txBody>
          <a:bodyPr/>
          <a:lstStyle/>
          <a:p>
            <a:endParaRPr lang="en-US"/>
          </a:p>
        </p:txBody>
      </p:sp>
      <p:sp>
        <p:nvSpPr>
          <p:cNvPr id="11" name="Text 9"/>
          <p:cNvSpPr txBox="1"/>
          <p:nvPr/>
        </p:nvSpPr>
        <p:spPr>
          <a:xfrm>
            <a:off x="6099048" y="1371600"/>
            <a:ext cx="2468880" cy="457200"/>
          </a:xfrm>
          <a:prstGeom prst="rect">
            <a:avLst/>
          </a:prstGeom>
          <a:noFill/>
          <a:ln/>
        </p:spPr>
        <p:txBody>
          <a:bodyPr wrap="square" lIns="0" tIns="0" rIns="0" bIns="0" rtlCol="0" anchor="ctr"/>
          <a:lstStyle/>
          <a:p>
            <a:pPr marL="0" indent="0" algn="ctr">
              <a:buNone/>
            </a:pPr>
            <a:r>
              <a:rPr lang="en-US" sz="1200" b="1" dirty="0">
                <a:solidFill>
                  <a:schemeClr val="tx1"/>
                </a:solidFill>
              </a:rPr>
              <a:t>LLM API (upstream)</a:t>
            </a:r>
            <a:endParaRPr lang="en-US" sz="1200" dirty="0"/>
          </a:p>
        </p:txBody>
      </p:sp>
      <p:sp>
        <p:nvSpPr>
          <p:cNvPr id="12" name="Shape 10"/>
          <p:cNvSpPr/>
          <p:nvPr/>
        </p:nvSpPr>
        <p:spPr>
          <a:xfrm>
            <a:off x="2002536" y="1600200"/>
            <a:ext cx="374904" cy="0"/>
          </a:xfrm>
          <a:prstGeom prst="line">
            <a:avLst/>
          </a:prstGeom>
          <a:noFill/>
          <a:ln w="15875">
            <a:solidFill>
              <a:srgbClr val="29BC86"/>
            </a:solidFill>
            <a:prstDash val="solid"/>
            <a:tailEnd type="triangle"/>
          </a:ln>
        </p:spPr>
        <p:txBody>
          <a:bodyPr/>
          <a:lstStyle/>
          <a:p>
            <a:endParaRPr lang="en-US"/>
          </a:p>
        </p:txBody>
      </p:sp>
      <p:sp>
        <p:nvSpPr>
          <p:cNvPr id="13" name="Shape 11"/>
          <p:cNvSpPr/>
          <p:nvPr/>
        </p:nvSpPr>
        <p:spPr>
          <a:xfrm>
            <a:off x="4105656" y="1600200"/>
            <a:ext cx="374904" cy="0"/>
          </a:xfrm>
          <a:prstGeom prst="line">
            <a:avLst/>
          </a:prstGeom>
          <a:noFill/>
          <a:ln w="15875">
            <a:solidFill>
              <a:srgbClr val="29BC86"/>
            </a:solidFill>
            <a:prstDash val="solid"/>
            <a:tailEnd type="triangle"/>
          </a:ln>
        </p:spPr>
        <p:txBody>
          <a:bodyPr/>
          <a:lstStyle/>
          <a:p>
            <a:endParaRPr lang="en-US"/>
          </a:p>
        </p:txBody>
      </p:sp>
      <p:sp>
        <p:nvSpPr>
          <p:cNvPr id="14" name="Shape 12"/>
          <p:cNvSpPr/>
          <p:nvPr/>
        </p:nvSpPr>
        <p:spPr>
          <a:xfrm>
            <a:off x="5705856" y="1600200"/>
            <a:ext cx="374904" cy="0"/>
          </a:xfrm>
          <a:prstGeom prst="line">
            <a:avLst/>
          </a:prstGeom>
          <a:noFill/>
          <a:ln w="15875">
            <a:solidFill>
              <a:srgbClr val="29BC86"/>
            </a:solidFill>
            <a:prstDash val="solid"/>
            <a:tailEnd type="triangle"/>
          </a:ln>
        </p:spPr>
        <p:txBody>
          <a:bodyPr/>
          <a:lstStyle/>
          <a:p>
            <a:endParaRPr lang="en-US"/>
          </a:p>
        </p:txBody>
      </p:sp>
      <p:sp>
        <p:nvSpPr>
          <p:cNvPr id="15" name="Text 13"/>
          <p:cNvSpPr txBox="1"/>
          <p:nvPr/>
        </p:nvSpPr>
        <p:spPr>
          <a:xfrm>
            <a:off x="566928" y="1883664"/>
            <a:ext cx="2011680" cy="228600"/>
          </a:xfrm>
          <a:prstGeom prst="rect">
            <a:avLst/>
          </a:prstGeom>
          <a:noFill/>
          <a:ln/>
        </p:spPr>
        <p:txBody>
          <a:bodyPr wrap="square" lIns="0" tIns="0" rIns="0" bIns="0" rtlCol="0" anchor="t"/>
          <a:lstStyle/>
          <a:p>
            <a:pPr marL="0" indent="0">
              <a:buNone/>
            </a:pPr>
            <a:r>
              <a:rPr lang="en-US" sz="1000" dirty="0">
                <a:solidFill>
                  <a:schemeClr val="tx2"/>
                </a:solidFill>
                <a:latin typeface="JetBrains Mono" pitchFamily="34" charset="0"/>
                <a:ea typeface="JetBrains Mono" pitchFamily="34" charset="-122"/>
                <a:cs typeface="JetBrains Mono" pitchFamily="34" charset="-120"/>
              </a:rPr>
              <a:t>ANTHROPIC_BASE_URL</a:t>
            </a:r>
            <a:endParaRPr lang="en-US" sz="1000" dirty="0"/>
          </a:p>
        </p:txBody>
      </p:sp>
      <p:sp>
        <p:nvSpPr>
          <p:cNvPr id="16" name="Text 14"/>
          <p:cNvSpPr txBox="1"/>
          <p:nvPr/>
        </p:nvSpPr>
        <p:spPr>
          <a:xfrm>
            <a:off x="4498848" y="1883664"/>
            <a:ext cx="1188720" cy="228600"/>
          </a:xfrm>
          <a:prstGeom prst="rect">
            <a:avLst/>
          </a:prstGeom>
          <a:noFill/>
          <a:ln/>
        </p:spPr>
        <p:txBody>
          <a:bodyPr wrap="square" lIns="0" tIns="0" rIns="0" bIns="0" rtlCol="0" anchor="t"/>
          <a:lstStyle/>
          <a:p>
            <a:pPr marL="0" indent="0" algn="ctr">
              <a:buNone/>
            </a:pPr>
            <a:r>
              <a:rPr lang="en-US" sz="1000" dirty="0">
                <a:solidFill>
                  <a:schemeClr val="tx2"/>
                </a:solidFill>
                <a:latin typeface="JetBrains Mono" pitchFamily="34" charset="0"/>
                <a:ea typeface="JetBrains Mono" pitchFamily="34" charset="-122"/>
                <a:cs typeface="JetBrains Mono" pitchFamily="34" charset="-120"/>
              </a:rPr>
              <a:t>policy.json</a:t>
            </a:r>
            <a:endParaRPr lang="en-US" sz="1000" dirty="0"/>
          </a:p>
        </p:txBody>
      </p:sp>
      <p:sp>
        <p:nvSpPr>
          <p:cNvPr id="17" name="Text 15"/>
          <p:cNvSpPr txBox="1"/>
          <p:nvPr/>
        </p:nvSpPr>
        <p:spPr>
          <a:xfrm>
            <a:off x="6099048" y="1883664"/>
            <a:ext cx="2468880" cy="228600"/>
          </a:xfrm>
          <a:prstGeom prst="rect">
            <a:avLst/>
          </a:prstGeom>
          <a:noFill/>
          <a:ln/>
        </p:spPr>
        <p:txBody>
          <a:bodyPr wrap="square" lIns="0" tIns="0" rIns="0" bIns="0" rtlCol="0" anchor="t"/>
          <a:lstStyle/>
          <a:p>
            <a:pPr marL="0" indent="0" algn="ctr">
              <a:buNone/>
            </a:pPr>
            <a:r>
              <a:rPr lang="en-US" sz="1000" dirty="0">
                <a:solidFill>
                  <a:schemeClr val="tx2"/>
                </a:solidFill>
                <a:latin typeface="JetBrains Mono" pitchFamily="34" charset="0"/>
                <a:ea typeface="JetBrains Mono" pitchFamily="34" charset="-122"/>
                <a:cs typeface="JetBrains Mono" pitchFamily="34" charset="-120"/>
              </a:rPr>
              <a:t>allowed, or report mode</a:t>
            </a:r>
            <a:endParaRPr lang="en-US" sz="1000" dirty="0"/>
          </a:p>
        </p:txBody>
      </p:sp>
      <p:sp>
        <p:nvSpPr>
          <p:cNvPr id="18" name="Rotating log"/>
          <p:cNvSpPr/>
          <p:nvPr/>
        </p:nvSpPr>
        <p:spPr>
          <a:xfrm>
            <a:off x="2395728" y="2377440"/>
            <a:ext cx="1874520" cy="402336"/>
          </a:xfrm>
          <a:prstGeom prst="rect">
            <a:avLst/>
          </a:prstGeom>
          <a:solidFill>
            <a:schemeClr val="bg2"/>
          </a:solidFill>
          <a:ln w="12700">
            <a:solidFill>
              <a:srgbClr val="222A35"/>
            </a:solidFill>
            <a:prstDash val="solid"/>
          </a:ln>
        </p:spPr>
        <p:txBody>
          <a:bodyPr/>
          <a:lstStyle/>
          <a:p>
            <a:endParaRPr lang="en-US"/>
          </a:p>
        </p:txBody>
      </p:sp>
      <p:sp>
        <p:nvSpPr>
          <p:cNvPr id="19" name="Text 17"/>
          <p:cNvSpPr txBox="1"/>
          <p:nvPr/>
        </p:nvSpPr>
        <p:spPr>
          <a:xfrm>
            <a:off x="2395728" y="2377440"/>
            <a:ext cx="1874520" cy="402336"/>
          </a:xfrm>
          <a:prstGeom prst="rect">
            <a:avLst/>
          </a:prstGeom>
          <a:noFill/>
          <a:ln/>
        </p:spPr>
        <p:txBody>
          <a:bodyPr wrap="square" lIns="0" tIns="0" rIns="0" bIns="0" rtlCol="0" anchor="ctr"/>
          <a:lstStyle/>
          <a:p>
            <a:pPr marL="0" indent="0" algn="ctr">
              <a:buNone/>
            </a:pPr>
            <a:r>
              <a:rPr lang="en-US" sz="1100" b="1" dirty="0">
                <a:solidFill>
                  <a:schemeClr val="tx1"/>
                </a:solidFill>
              </a:rPr>
              <a:t>Rotating log</a:t>
            </a:r>
            <a:endParaRPr lang="en-US" sz="1100" dirty="0"/>
          </a:p>
        </p:txBody>
      </p:sp>
      <p:sp>
        <p:nvSpPr>
          <p:cNvPr id="20" name="SwarmSentinel recorder"/>
          <p:cNvSpPr/>
          <p:nvPr/>
        </p:nvSpPr>
        <p:spPr>
          <a:xfrm>
            <a:off x="4471416" y="2377440"/>
            <a:ext cx="1874520" cy="402336"/>
          </a:xfrm>
          <a:prstGeom prst="rect">
            <a:avLst/>
          </a:prstGeom>
          <a:solidFill>
            <a:schemeClr val="bg2"/>
          </a:solidFill>
          <a:ln w="12700">
            <a:solidFill>
              <a:srgbClr val="222A35"/>
            </a:solidFill>
            <a:prstDash val="solid"/>
          </a:ln>
        </p:spPr>
        <p:txBody>
          <a:bodyPr/>
          <a:lstStyle/>
          <a:p>
            <a:endParaRPr lang="en-US"/>
          </a:p>
        </p:txBody>
      </p:sp>
      <p:sp>
        <p:nvSpPr>
          <p:cNvPr id="21" name="Text 19"/>
          <p:cNvSpPr txBox="1"/>
          <p:nvPr/>
        </p:nvSpPr>
        <p:spPr>
          <a:xfrm>
            <a:off x="4471416" y="2377440"/>
            <a:ext cx="1874520" cy="402336"/>
          </a:xfrm>
          <a:prstGeom prst="rect">
            <a:avLst/>
          </a:prstGeom>
          <a:noFill/>
          <a:ln/>
        </p:spPr>
        <p:txBody>
          <a:bodyPr wrap="square" lIns="0" tIns="0" rIns="0" bIns="0" rtlCol="0" anchor="ctr"/>
          <a:lstStyle/>
          <a:p>
            <a:pPr marL="0" indent="0" algn="ctr">
              <a:buNone/>
            </a:pPr>
            <a:r>
              <a:rPr lang="en-US" sz="1100" b="1" dirty="0">
                <a:solidFill>
                  <a:schemeClr val="tx1"/>
                </a:solidFill>
              </a:rPr>
              <a:t>SwarmSentinel recorder</a:t>
            </a:r>
            <a:endParaRPr lang="en-US" sz="1100" dirty="0"/>
          </a:p>
        </p:txBody>
      </p:sp>
      <p:sp>
        <p:nvSpPr>
          <p:cNvPr id="22" name="Metrics DB → dashboard"/>
          <p:cNvSpPr/>
          <p:nvPr/>
        </p:nvSpPr>
        <p:spPr>
          <a:xfrm>
            <a:off x="6547104" y="2377440"/>
            <a:ext cx="1874520" cy="402336"/>
          </a:xfrm>
          <a:prstGeom prst="rect">
            <a:avLst/>
          </a:prstGeom>
          <a:solidFill>
            <a:schemeClr val="bg2"/>
          </a:solidFill>
          <a:ln w="12700">
            <a:solidFill>
              <a:srgbClr val="222A35"/>
            </a:solidFill>
            <a:prstDash val="solid"/>
          </a:ln>
        </p:spPr>
        <p:txBody>
          <a:bodyPr/>
          <a:lstStyle/>
          <a:p>
            <a:endParaRPr lang="en-US"/>
          </a:p>
        </p:txBody>
      </p:sp>
      <p:sp>
        <p:nvSpPr>
          <p:cNvPr id="23" name="Text 21"/>
          <p:cNvSpPr txBox="1"/>
          <p:nvPr/>
        </p:nvSpPr>
        <p:spPr>
          <a:xfrm>
            <a:off x="6547104" y="2377440"/>
            <a:ext cx="1874520" cy="402336"/>
          </a:xfrm>
          <a:prstGeom prst="rect">
            <a:avLst/>
          </a:prstGeom>
          <a:noFill/>
          <a:ln/>
        </p:spPr>
        <p:txBody>
          <a:bodyPr wrap="square" lIns="0" tIns="0" rIns="0" bIns="0" rtlCol="0" anchor="ctr"/>
          <a:lstStyle/>
          <a:p>
            <a:pPr marL="0" indent="0" algn="ctr">
              <a:buNone/>
            </a:pPr>
            <a:r>
              <a:rPr lang="en-US" sz="1100" b="1" dirty="0">
                <a:solidFill>
                  <a:schemeClr val="tx1"/>
                </a:solidFill>
              </a:rPr>
              <a:t>Metrics DB → dashboard</a:t>
            </a:r>
            <a:endParaRPr lang="en-US" sz="1100" dirty="0"/>
          </a:p>
        </p:txBody>
      </p:sp>
      <p:sp>
        <p:nvSpPr>
          <p:cNvPr id="24" name="Shape 22"/>
          <p:cNvSpPr/>
          <p:nvPr/>
        </p:nvSpPr>
        <p:spPr>
          <a:xfrm>
            <a:off x="5093208" y="1847088"/>
            <a:ext cx="0" cy="502920"/>
          </a:xfrm>
          <a:prstGeom prst="line">
            <a:avLst/>
          </a:prstGeom>
          <a:noFill/>
          <a:ln w="15875">
            <a:solidFill>
              <a:srgbClr val="919DAC"/>
            </a:solidFill>
            <a:prstDash val="dash"/>
            <a:tailEnd type="triangle"/>
          </a:ln>
        </p:spPr>
        <p:txBody>
          <a:bodyPr/>
          <a:lstStyle/>
          <a:p>
            <a:endParaRPr lang="en-US"/>
          </a:p>
        </p:txBody>
      </p:sp>
      <p:sp>
        <p:nvSpPr>
          <p:cNvPr id="25" name="Text 23"/>
          <p:cNvSpPr txBox="1"/>
          <p:nvPr/>
        </p:nvSpPr>
        <p:spPr>
          <a:xfrm>
            <a:off x="566928" y="3063240"/>
            <a:ext cx="8001000" cy="15544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Agents reach the proxy through a base-URL override: no TLS interception</a:t>
            </a:r>
            <a:endParaRPr lang="en-US" sz="1400" dirty="0"/>
          </a:p>
          <a:p>
            <a:pPr marL="177800" indent="-177800">
              <a:spcAft>
                <a:spcPts val="600"/>
              </a:spcAft>
              <a:buSzPct val="100000"/>
              <a:buChar char="•"/>
            </a:pPr>
            <a:r>
              <a:rPr lang="en-US" sz="1400" dirty="0">
                <a:solidFill>
                  <a:schemeClr val="tx1"/>
                </a:solidFill>
              </a:rPr>
              <a:t>Every request is classified against the policy before it is forwarded</a:t>
            </a:r>
            <a:endParaRPr lang="en-US" sz="1400" dirty="0"/>
          </a:p>
          <a:p>
            <a:pPr marL="177800" indent="-177800">
              <a:spcAft>
                <a:spcPts val="600"/>
              </a:spcAft>
              <a:buSzPct val="100000"/>
              <a:buChar char="•"/>
            </a:pPr>
            <a:r>
              <a:rPr lang="en-US" sz="1400" dirty="0">
                <a:solidFill>
                  <a:schemeClr val="tx1"/>
                </a:solidFill>
              </a:rPr>
              <a:t>The sensors watch the clipboard, AI processes and Chrome tabs</a:t>
            </a:r>
            <a:endParaRPr lang="en-US" sz="1400" dirty="0"/>
          </a:p>
          <a:p>
            <a:pPr marL="177800" indent="-177800">
              <a:spcAft>
                <a:spcPts val="600"/>
              </a:spcAft>
              <a:buSzPct val="100000"/>
              <a:buChar char="•"/>
            </a:pPr>
            <a:r>
              <a:rPr lang="en-US" sz="1400" dirty="0">
                <a:solidFill>
                  <a:schemeClr val="tx1"/>
                </a:solidFill>
              </a:rPr>
              <a:t>Decisions go to the log, SwarmSentinel and a body-free metrics store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566928" y="566928"/>
            <a:ext cx="8001000" cy="512064"/>
          </a:xfrm>
          <a:prstGeom prst="rect">
            <a:avLst/>
          </a:prstGeom>
          <a:noFill/>
          <a:ln/>
        </p:spPr>
        <p:txBody>
          <a:bodyPr wrap="square" lIns="0" tIns="0" rIns="0" bIns="0" rtlCol="0" anchor="ctr"/>
          <a:lstStyle/>
          <a:p>
            <a:pPr marL="0" indent="0">
              <a:buNone/>
            </a:pPr>
            <a:r>
              <a:rPr lang="en-US" sz="2850" b="1" dirty="0">
                <a:solidFill>
                  <a:schemeClr val="tx1"/>
                </a:solidFill>
              </a:rPr>
              <a:t>Rules first, model last</a:t>
            </a:r>
            <a:endParaRPr lang="en-US" sz="2850" dirty="0"/>
          </a:p>
        </p:txBody>
      </p:sp>
      <p:sp>
        <p:nvSpPr>
          <p:cNvPr id="3" name="Text 1"/>
          <p:cNvSpPr txBox="1"/>
          <p:nvPr/>
        </p:nvSpPr>
        <p:spPr>
          <a:xfrm>
            <a:off x="7653528" y="4864608"/>
            <a:ext cx="914400" cy="219456"/>
          </a:xfrm>
          <a:prstGeom prst="rect">
            <a:avLst/>
          </a:prstGeom>
          <a:noFill/>
          <a:ln/>
        </p:spPr>
        <p:txBody>
          <a:bodyPr wrap="square" lIns="0" tIns="0" rIns="0" bIns="0" rtlCol="0" anchor="ctr"/>
          <a:lstStyle/>
          <a:p>
            <a:pPr marL="0" indent="0" algn="r">
              <a:buNone/>
            </a:pPr>
            <a:r>
              <a:rPr lang="en-US" sz="1130" dirty="0">
                <a:solidFill>
                  <a:schemeClr val="tx2"/>
                </a:solidFill>
                <a:latin typeface="JetBrains Mono" pitchFamily="34" charset="0"/>
                <a:ea typeface="JetBrains Mono" pitchFamily="34" charset="-122"/>
                <a:cs typeface="JetBrains Mono" pitchFamily="34" charset="-120"/>
              </a:rPr>
              <a:t>05 / 16</a:t>
            </a:r>
            <a:endParaRPr lang="en-US" sz="1130" dirty="0"/>
          </a:p>
        </p:txBody>
      </p:sp>
      <p:sp>
        <p:nvSpPr>
          <p:cNvPr id="4" name="Text 2"/>
          <p:cNvSpPr txBox="1"/>
          <p:nvPr/>
        </p:nvSpPr>
        <p:spPr>
          <a:xfrm>
            <a:off x="566928" y="1371600"/>
            <a:ext cx="365760" cy="457200"/>
          </a:xfrm>
          <a:prstGeom prst="rect">
            <a:avLst/>
          </a:prstGeom>
          <a:noFill/>
          <a:ln/>
        </p:spPr>
        <p:txBody>
          <a:bodyPr wrap="square" lIns="0" tIns="0" rIns="0" bIns="0" rtlCol="0" anchor="t"/>
          <a:lstStyle/>
          <a:p>
            <a:pPr marL="0" indent="0">
              <a:buNone/>
            </a:pPr>
            <a:r>
              <a:rPr lang="en-US" sz="2400" b="1" dirty="0">
                <a:solidFill>
                  <a:srgbClr val="00B0F0"/>
                </a:solidFill>
              </a:rPr>
              <a:t>1</a:t>
            </a:r>
            <a:endParaRPr lang="en-US" sz="2400" dirty="0"/>
          </a:p>
        </p:txBody>
      </p:sp>
      <p:sp>
        <p:nvSpPr>
          <p:cNvPr id="5" name="Text 3"/>
          <p:cNvSpPr txBox="1"/>
          <p:nvPr/>
        </p:nvSpPr>
        <p:spPr>
          <a:xfrm>
            <a:off x="1005840" y="1371600"/>
            <a:ext cx="3657600" cy="274320"/>
          </a:xfrm>
          <a:prstGeom prst="rect">
            <a:avLst/>
          </a:prstGeom>
          <a:noFill/>
          <a:ln/>
        </p:spPr>
        <p:txBody>
          <a:bodyPr wrap="square" lIns="0" tIns="0" rIns="0" bIns="0" rtlCol="0" anchor="t"/>
          <a:lstStyle/>
          <a:p>
            <a:pPr marL="0" indent="0">
              <a:buNone/>
            </a:pPr>
            <a:r>
              <a:rPr lang="en-US" sz="1500" b="1" dirty="0">
                <a:solidFill>
                  <a:schemeClr val="tx1"/>
                </a:solidFill>
              </a:rPr>
              <a:t>Source labels</a:t>
            </a:r>
            <a:endParaRPr lang="en-US" sz="1500" dirty="0"/>
          </a:p>
        </p:txBody>
      </p:sp>
      <p:sp>
        <p:nvSpPr>
          <p:cNvPr id="6" name="Text 4"/>
          <p:cNvSpPr txBox="1"/>
          <p:nvPr/>
        </p:nvSpPr>
        <p:spPr>
          <a:xfrm>
            <a:off x="1005840" y="1664208"/>
            <a:ext cx="3657600" cy="274320"/>
          </a:xfrm>
          <a:prstGeom prst="rect">
            <a:avLst/>
          </a:prstGeom>
          <a:noFill/>
          <a:ln/>
        </p:spPr>
        <p:txBody>
          <a:bodyPr wrap="square" lIns="0" tIns="0" rIns="0" bIns="0" rtlCol="0" anchor="t"/>
          <a:lstStyle/>
          <a:p>
            <a:pPr marL="0" indent="0">
              <a:buNone/>
            </a:pPr>
            <a:r>
              <a:rPr lang="en-US" sz="1200" dirty="0">
                <a:solidFill>
                  <a:schemeClr val="tx2"/>
                </a:solidFill>
              </a:rPr>
              <a:t>From the policy and trusted launchers</a:t>
            </a:r>
            <a:endParaRPr lang="en-US" sz="1200" dirty="0"/>
          </a:p>
        </p:txBody>
      </p:sp>
      <p:sp>
        <p:nvSpPr>
          <p:cNvPr id="7" name="Text 5"/>
          <p:cNvSpPr txBox="1"/>
          <p:nvPr/>
        </p:nvSpPr>
        <p:spPr>
          <a:xfrm>
            <a:off x="566928" y="2157984"/>
            <a:ext cx="365760" cy="457200"/>
          </a:xfrm>
          <a:prstGeom prst="rect">
            <a:avLst/>
          </a:prstGeom>
          <a:noFill/>
          <a:ln/>
        </p:spPr>
        <p:txBody>
          <a:bodyPr wrap="square" lIns="0" tIns="0" rIns="0" bIns="0" rtlCol="0" anchor="t"/>
          <a:lstStyle/>
          <a:p>
            <a:pPr marL="0" indent="0">
              <a:buNone/>
            </a:pPr>
            <a:r>
              <a:rPr lang="en-US" sz="2400" b="1" dirty="0">
                <a:solidFill>
                  <a:srgbClr val="00B0F0"/>
                </a:solidFill>
              </a:rPr>
              <a:t>2</a:t>
            </a:r>
            <a:endParaRPr lang="en-US" sz="2400" dirty="0"/>
          </a:p>
        </p:txBody>
      </p:sp>
      <p:sp>
        <p:nvSpPr>
          <p:cNvPr id="8" name="Text 6"/>
          <p:cNvSpPr txBox="1"/>
          <p:nvPr/>
        </p:nvSpPr>
        <p:spPr>
          <a:xfrm>
            <a:off x="1005840" y="2157984"/>
            <a:ext cx="3657600" cy="274320"/>
          </a:xfrm>
          <a:prstGeom prst="rect">
            <a:avLst/>
          </a:prstGeom>
          <a:noFill/>
          <a:ln/>
        </p:spPr>
        <p:txBody>
          <a:bodyPr wrap="square" lIns="0" tIns="0" rIns="0" bIns="0" rtlCol="0" anchor="t"/>
          <a:lstStyle/>
          <a:p>
            <a:pPr marL="0" indent="0">
              <a:buNone/>
            </a:pPr>
            <a:r>
              <a:rPr lang="en-US" sz="1500" b="1" dirty="0">
                <a:solidFill>
                  <a:schemeClr val="tx1"/>
                </a:solidFill>
              </a:rPr>
              <a:t>Fingerprints</a:t>
            </a:r>
            <a:endParaRPr lang="en-US" sz="1500" dirty="0"/>
          </a:p>
        </p:txBody>
      </p:sp>
      <p:sp>
        <p:nvSpPr>
          <p:cNvPr id="9" name="Text 7"/>
          <p:cNvSpPr txBox="1"/>
          <p:nvPr/>
        </p:nvSpPr>
        <p:spPr>
          <a:xfrm>
            <a:off x="1005840" y="2450592"/>
            <a:ext cx="3657600" cy="274320"/>
          </a:xfrm>
          <a:prstGeom prst="rect">
            <a:avLst/>
          </a:prstGeom>
          <a:noFill/>
          <a:ln/>
        </p:spPr>
        <p:txBody>
          <a:bodyPr wrap="square" lIns="0" tIns="0" rIns="0" bIns="0" rtlCol="0" anchor="t"/>
          <a:lstStyle/>
          <a:p>
            <a:pPr marL="0" indent="0">
              <a:buNone/>
            </a:pPr>
            <a:r>
              <a:rPr lang="en-US" sz="1200" dirty="0">
                <a:solidFill>
                  <a:schemeClr val="tx2"/>
                </a:solidFill>
              </a:rPr>
              <a:t>SHA-256 of known documents and lists</a:t>
            </a:r>
            <a:endParaRPr lang="en-US" sz="1200" dirty="0"/>
          </a:p>
        </p:txBody>
      </p:sp>
      <p:sp>
        <p:nvSpPr>
          <p:cNvPr id="10" name="Text 8"/>
          <p:cNvSpPr txBox="1"/>
          <p:nvPr/>
        </p:nvSpPr>
        <p:spPr>
          <a:xfrm>
            <a:off x="566928" y="2944368"/>
            <a:ext cx="365760" cy="457200"/>
          </a:xfrm>
          <a:prstGeom prst="rect">
            <a:avLst/>
          </a:prstGeom>
          <a:noFill/>
          <a:ln/>
        </p:spPr>
        <p:txBody>
          <a:bodyPr wrap="square" lIns="0" tIns="0" rIns="0" bIns="0" rtlCol="0" anchor="t"/>
          <a:lstStyle/>
          <a:p>
            <a:pPr marL="0" indent="0">
              <a:buNone/>
            </a:pPr>
            <a:r>
              <a:rPr lang="en-US" sz="2400" b="1" dirty="0">
                <a:solidFill>
                  <a:srgbClr val="00B0F0"/>
                </a:solidFill>
              </a:rPr>
              <a:t>3</a:t>
            </a:r>
            <a:endParaRPr lang="en-US" sz="2400" dirty="0"/>
          </a:p>
        </p:txBody>
      </p:sp>
      <p:sp>
        <p:nvSpPr>
          <p:cNvPr id="11" name="Text 9"/>
          <p:cNvSpPr txBox="1"/>
          <p:nvPr/>
        </p:nvSpPr>
        <p:spPr>
          <a:xfrm>
            <a:off x="1005840" y="2944368"/>
            <a:ext cx="3657600" cy="274320"/>
          </a:xfrm>
          <a:prstGeom prst="rect">
            <a:avLst/>
          </a:prstGeom>
          <a:noFill/>
          <a:ln/>
        </p:spPr>
        <p:txBody>
          <a:bodyPr wrap="square" lIns="0" tIns="0" rIns="0" bIns="0" rtlCol="0" anchor="t"/>
          <a:lstStyle/>
          <a:p>
            <a:pPr marL="0" indent="0">
              <a:buNone/>
            </a:pPr>
            <a:r>
              <a:rPr lang="en-US" sz="1500" b="1" dirty="0">
                <a:solidFill>
                  <a:schemeClr val="tx1"/>
                </a:solidFill>
              </a:rPr>
              <a:t>Patterns and keywords</a:t>
            </a:r>
            <a:endParaRPr lang="en-US" sz="1500" dirty="0"/>
          </a:p>
        </p:txBody>
      </p:sp>
      <p:sp>
        <p:nvSpPr>
          <p:cNvPr id="12" name="Text 10"/>
          <p:cNvSpPr txBox="1"/>
          <p:nvPr/>
        </p:nvSpPr>
        <p:spPr>
          <a:xfrm>
            <a:off x="1005840" y="3236976"/>
            <a:ext cx="3657600" cy="274320"/>
          </a:xfrm>
          <a:prstGeom prst="rect">
            <a:avLst/>
          </a:prstGeom>
          <a:noFill/>
          <a:ln/>
        </p:spPr>
        <p:txBody>
          <a:bodyPr wrap="square" lIns="0" tIns="0" rIns="0" bIns="0" rtlCol="0" anchor="t"/>
          <a:lstStyle/>
          <a:p>
            <a:pPr marL="0" indent="0">
              <a:buNone/>
            </a:pPr>
            <a:r>
              <a:rPr lang="en-US" sz="1200" dirty="0">
                <a:solidFill>
                  <a:schemeClr val="tx2"/>
                </a:solidFill>
              </a:rPr>
              <a:t>Built-in DLP rules plus each class's own</a:t>
            </a:r>
            <a:endParaRPr lang="en-US" sz="1200" dirty="0"/>
          </a:p>
        </p:txBody>
      </p:sp>
      <p:sp>
        <p:nvSpPr>
          <p:cNvPr id="13" name="Text 11"/>
          <p:cNvSpPr txBox="1"/>
          <p:nvPr/>
        </p:nvSpPr>
        <p:spPr>
          <a:xfrm>
            <a:off x="566928" y="3730752"/>
            <a:ext cx="365760" cy="457200"/>
          </a:xfrm>
          <a:prstGeom prst="rect">
            <a:avLst/>
          </a:prstGeom>
          <a:noFill/>
          <a:ln/>
        </p:spPr>
        <p:txBody>
          <a:bodyPr wrap="square" lIns="0" tIns="0" rIns="0" bIns="0" rtlCol="0" anchor="t"/>
          <a:lstStyle/>
          <a:p>
            <a:pPr marL="0" indent="0">
              <a:buNone/>
            </a:pPr>
            <a:r>
              <a:rPr lang="en-US" sz="2400" b="1" dirty="0">
                <a:solidFill>
                  <a:srgbClr val="00B0F0"/>
                </a:solidFill>
              </a:rPr>
              <a:t>4</a:t>
            </a:r>
            <a:endParaRPr lang="en-US" sz="2400" dirty="0"/>
          </a:p>
        </p:txBody>
      </p:sp>
      <p:sp>
        <p:nvSpPr>
          <p:cNvPr id="14" name="Text 12"/>
          <p:cNvSpPr txBox="1"/>
          <p:nvPr/>
        </p:nvSpPr>
        <p:spPr>
          <a:xfrm>
            <a:off x="1005840" y="3730752"/>
            <a:ext cx="3657600" cy="274320"/>
          </a:xfrm>
          <a:prstGeom prst="rect">
            <a:avLst/>
          </a:prstGeom>
          <a:noFill/>
          <a:ln/>
        </p:spPr>
        <p:txBody>
          <a:bodyPr wrap="square" lIns="0" tIns="0" rIns="0" bIns="0" rtlCol="0" anchor="t"/>
          <a:lstStyle/>
          <a:p>
            <a:pPr marL="0" indent="0">
              <a:buNone/>
            </a:pPr>
            <a:r>
              <a:rPr lang="en-US" sz="1500" b="1" dirty="0">
                <a:solidFill>
                  <a:schemeClr val="tx1"/>
                </a:solidFill>
              </a:rPr>
              <a:t>Classifier, advisory</a:t>
            </a:r>
            <a:endParaRPr lang="en-US" sz="1500" dirty="0"/>
          </a:p>
        </p:txBody>
      </p:sp>
      <p:sp>
        <p:nvSpPr>
          <p:cNvPr id="15" name="Text 13"/>
          <p:cNvSpPr txBox="1"/>
          <p:nvPr/>
        </p:nvSpPr>
        <p:spPr>
          <a:xfrm>
            <a:off x="1005840" y="4023360"/>
            <a:ext cx="3657600" cy="274320"/>
          </a:xfrm>
          <a:prstGeom prst="rect">
            <a:avLst/>
          </a:prstGeom>
          <a:noFill/>
          <a:ln/>
        </p:spPr>
        <p:txBody>
          <a:bodyPr wrap="square" lIns="0" tIns="0" rIns="0" bIns="0" rtlCol="0" anchor="t"/>
          <a:lstStyle/>
          <a:p>
            <a:pPr marL="0" indent="0">
              <a:buNone/>
            </a:pPr>
            <a:r>
              <a:rPr lang="en-US" sz="1200" dirty="0">
                <a:solidFill>
                  <a:schemeClr val="tx2"/>
                </a:solidFill>
              </a:rPr>
              <a:t>Only what 1 to 3 left open; features only by default</a:t>
            </a:r>
            <a:endParaRPr lang="en-US" sz="1200" dirty="0"/>
          </a:p>
        </p:txBody>
      </p:sp>
      <p:sp>
        <p:nvSpPr>
          <p:cNvPr id="16" name="Verdicts"/>
          <p:cNvSpPr/>
          <p:nvPr/>
        </p:nvSpPr>
        <p:spPr>
          <a:xfrm>
            <a:off x="5120640" y="1325880"/>
            <a:ext cx="3447288" cy="2743200"/>
          </a:xfrm>
          <a:prstGeom prst="rect">
            <a:avLst/>
          </a:prstGeom>
          <a:solidFill>
            <a:schemeClr val="bg2"/>
          </a:solidFill>
          <a:ln/>
        </p:spPr>
        <p:txBody>
          <a:bodyPr/>
          <a:lstStyle/>
          <a:p>
            <a:endParaRPr lang="en-US"/>
          </a:p>
        </p:txBody>
      </p:sp>
      <p:sp>
        <p:nvSpPr>
          <p:cNvPr id="17" name="Text 15"/>
          <p:cNvSpPr txBox="1"/>
          <p:nvPr/>
        </p:nvSpPr>
        <p:spPr>
          <a:xfrm>
            <a:off x="5349240" y="1463040"/>
            <a:ext cx="3017520" cy="274320"/>
          </a:xfrm>
          <a:prstGeom prst="rect">
            <a:avLst/>
          </a:prstGeom>
          <a:noFill/>
          <a:ln/>
        </p:spPr>
        <p:txBody>
          <a:bodyPr wrap="square" lIns="0" tIns="0" rIns="0" bIns="0" rtlCol="0" anchor="t"/>
          <a:lstStyle/>
          <a:p>
            <a:pPr marL="0" indent="0">
              <a:buNone/>
            </a:pPr>
            <a:r>
              <a:rPr lang="en-US" sz="1200" dirty="0">
                <a:solidFill>
                  <a:schemeClr val="tx2"/>
                </a:solidFill>
              </a:rPr>
              <a:t>Verdicts</a:t>
            </a:r>
            <a:endParaRPr lang="en-US" sz="1200" dirty="0"/>
          </a:p>
        </p:txBody>
      </p:sp>
      <p:sp>
        <p:nvSpPr>
          <p:cNvPr id="18" name="Text 16"/>
          <p:cNvSpPr txBox="1"/>
          <p:nvPr/>
        </p:nvSpPr>
        <p:spPr>
          <a:xfrm>
            <a:off x="5349240" y="1828800"/>
            <a:ext cx="1005840" cy="365760"/>
          </a:xfrm>
          <a:prstGeom prst="rect">
            <a:avLst/>
          </a:prstGeom>
          <a:noFill/>
          <a:ln/>
        </p:spPr>
        <p:txBody>
          <a:bodyPr wrap="square" lIns="0" tIns="0" rIns="0" bIns="0" rtlCol="0" anchor="ctr"/>
          <a:lstStyle/>
          <a:p>
            <a:pPr marL="0" indent="0">
              <a:buNone/>
            </a:pPr>
            <a:r>
              <a:rPr lang="en-US" sz="1400" b="1" dirty="0">
                <a:solidFill>
                  <a:srgbClr val="29BC86"/>
                </a:solidFill>
                <a:latin typeface="JetBrains Mono" pitchFamily="34" charset="0"/>
                <a:ea typeface="JetBrains Mono" pitchFamily="34" charset="-122"/>
                <a:cs typeface="JetBrains Mono" pitchFamily="34" charset="-120"/>
              </a:rPr>
              <a:t>allow</a:t>
            </a:r>
            <a:endParaRPr lang="en-US" sz="1400" dirty="0"/>
          </a:p>
        </p:txBody>
      </p:sp>
      <p:sp>
        <p:nvSpPr>
          <p:cNvPr id="19" name="Text 17"/>
          <p:cNvSpPr txBox="1"/>
          <p:nvPr/>
        </p:nvSpPr>
        <p:spPr>
          <a:xfrm>
            <a:off x="6400800" y="1828800"/>
            <a:ext cx="2011680" cy="457200"/>
          </a:xfrm>
          <a:prstGeom prst="rect">
            <a:avLst/>
          </a:prstGeom>
          <a:noFill/>
          <a:ln/>
        </p:spPr>
        <p:txBody>
          <a:bodyPr wrap="square" lIns="0" tIns="0" rIns="0" bIns="0" rtlCol="0" anchor="ctr"/>
          <a:lstStyle/>
          <a:p>
            <a:pPr marL="0" indent="0">
              <a:buNone/>
            </a:pPr>
            <a:r>
              <a:rPr lang="en-US" sz="1200" dirty="0">
                <a:solidFill>
                  <a:schemeClr val="tx1"/>
                </a:solidFill>
              </a:rPr>
              <a:t>Forwarded</a:t>
            </a:r>
            <a:endParaRPr lang="en-US" sz="1200" dirty="0"/>
          </a:p>
        </p:txBody>
      </p:sp>
      <p:sp>
        <p:nvSpPr>
          <p:cNvPr id="20" name="Text 18"/>
          <p:cNvSpPr txBox="1"/>
          <p:nvPr/>
        </p:nvSpPr>
        <p:spPr>
          <a:xfrm>
            <a:off x="5349240" y="2377440"/>
            <a:ext cx="1005840" cy="365760"/>
          </a:xfrm>
          <a:prstGeom prst="rect">
            <a:avLst/>
          </a:prstGeom>
          <a:noFill/>
          <a:ln/>
        </p:spPr>
        <p:txBody>
          <a:bodyPr wrap="square" lIns="0" tIns="0" rIns="0" bIns="0" rtlCol="0" anchor="ctr"/>
          <a:lstStyle/>
          <a:p>
            <a:pPr marL="0" indent="0">
              <a:buNone/>
            </a:pPr>
            <a:r>
              <a:rPr lang="en-US" sz="1400" b="1" dirty="0">
                <a:solidFill>
                  <a:srgbClr val="5CC8FF"/>
                </a:solidFill>
                <a:latin typeface="JetBrains Mono" pitchFamily="34" charset="0"/>
                <a:ea typeface="JetBrains Mono" pitchFamily="34" charset="-122"/>
                <a:cs typeface="JetBrains Mono" pitchFamily="34" charset="-120"/>
              </a:rPr>
              <a:t>translate</a:t>
            </a:r>
            <a:endParaRPr lang="en-US" sz="1400" dirty="0"/>
          </a:p>
        </p:txBody>
      </p:sp>
      <p:sp>
        <p:nvSpPr>
          <p:cNvPr id="21" name="Text 19"/>
          <p:cNvSpPr txBox="1"/>
          <p:nvPr/>
        </p:nvSpPr>
        <p:spPr>
          <a:xfrm>
            <a:off x="6400800" y="2377440"/>
            <a:ext cx="2011680" cy="457200"/>
          </a:xfrm>
          <a:prstGeom prst="rect">
            <a:avLst/>
          </a:prstGeom>
          <a:noFill/>
          <a:ln/>
        </p:spPr>
        <p:txBody>
          <a:bodyPr wrap="square" lIns="0" tIns="0" rIns="0" bIns="0" rtlCol="0" anchor="ctr"/>
          <a:lstStyle/>
          <a:p>
            <a:pPr marL="0" indent="0">
              <a:buNone/>
            </a:pPr>
            <a:r>
              <a:rPr lang="en-US" sz="1200" dirty="0">
                <a:solidFill>
                  <a:schemeClr val="tx1"/>
                </a:solidFill>
              </a:rPr>
              <a:t>Surrogates; treated as block today</a:t>
            </a:r>
            <a:endParaRPr lang="en-US" sz="1200" dirty="0"/>
          </a:p>
        </p:txBody>
      </p:sp>
      <p:sp>
        <p:nvSpPr>
          <p:cNvPr id="22" name="Text 20"/>
          <p:cNvSpPr txBox="1"/>
          <p:nvPr/>
        </p:nvSpPr>
        <p:spPr>
          <a:xfrm>
            <a:off x="5349240" y="2926080"/>
            <a:ext cx="1005840" cy="365760"/>
          </a:xfrm>
          <a:prstGeom prst="rect">
            <a:avLst/>
          </a:prstGeom>
          <a:noFill/>
          <a:ln/>
        </p:spPr>
        <p:txBody>
          <a:bodyPr wrap="square" lIns="0" tIns="0" rIns="0" bIns="0" rtlCol="0" anchor="ctr"/>
          <a:lstStyle/>
          <a:p>
            <a:pPr marL="0" indent="0">
              <a:buNone/>
            </a:pPr>
            <a:r>
              <a:rPr lang="en-US" sz="1400" b="1" dirty="0">
                <a:solidFill>
                  <a:srgbClr val="F5B83D"/>
                </a:solidFill>
                <a:latin typeface="JetBrains Mono" pitchFamily="34" charset="0"/>
                <a:ea typeface="JetBrains Mono" pitchFamily="34" charset="-122"/>
                <a:cs typeface="JetBrains Mono" pitchFamily="34" charset="-120"/>
              </a:rPr>
              <a:t>hold</a:t>
            </a:r>
            <a:endParaRPr lang="en-US" sz="1400" dirty="0"/>
          </a:p>
        </p:txBody>
      </p:sp>
      <p:sp>
        <p:nvSpPr>
          <p:cNvPr id="23" name="Text 21"/>
          <p:cNvSpPr txBox="1"/>
          <p:nvPr/>
        </p:nvSpPr>
        <p:spPr>
          <a:xfrm>
            <a:off x="6400800" y="2926080"/>
            <a:ext cx="2011680" cy="457200"/>
          </a:xfrm>
          <a:prstGeom prst="rect">
            <a:avLst/>
          </a:prstGeom>
          <a:noFill/>
          <a:ln/>
        </p:spPr>
        <p:txBody>
          <a:bodyPr wrap="square" lIns="0" tIns="0" rIns="0" bIns="0" rtlCol="0" anchor="ctr"/>
          <a:lstStyle/>
          <a:p>
            <a:pPr marL="0" indent="0">
              <a:buNone/>
            </a:pPr>
            <a:r>
              <a:rPr lang="en-US" sz="1200" dirty="0">
                <a:solidFill>
                  <a:schemeClr val="tx1"/>
                </a:solidFill>
              </a:rPr>
              <a:t>Block plus how to ask for an exception</a:t>
            </a:r>
            <a:endParaRPr lang="en-US" sz="1200" dirty="0"/>
          </a:p>
        </p:txBody>
      </p:sp>
      <p:sp>
        <p:nvSpPr>
          <p:cNvPr id="24" name="Text 22"/>
          <p:cNvSpPr txBox="1"/>
          <p:nvPr/>
        </p:nvSpPr>
        <p:spPr>
          <a:xfrm>
            <a:off x="5349240" y="3474720"/>
            <a:ext cx="1005840" cy="365760"/>
          </a:xfrm>
          <a:prstGeom prst="rect">
            <a:avLst/>
          </a:prstGeom>
          <a:noFill/>
          <a:ln/>
        </p:spPr>
        <p:txBody>
          <a:bodyPr wrap="square" lIns="0" tIns="0" rIns="0" bIns="0" rtlCol="0" anchor="ctr"/>
          <a:lstStyle/>
          <a:p>
            <a:pPr marL="0" indent="0">
              <a:buNone/>
            </a:pPr>
            <a:r>
              <a:rPr lang="en-US" sz="1400" b="1" dirty="0">
                <a:solidFill>
                  <a:srgbClr val="FF5D5D"/>
                </a:solidFill>
                <a:latin typeface="JetBrains Mono" pitchFamily="34" charset="0"/>
                <a:ea typeface="JetBrains Mono" pitchFamily="34" charset="-122"/>
                <a:cs typeface="JetBrains Mono" pitchFamily="34" charset="-120"/>
              </a:rPr>
              <a:t>block</a:t>
            </a:r>
            <a:endParaRPr lang="en-US" sz="1400" dirty="0"/>
          </a:p>
        </p:txBody>
      </p:sp>
      <p:sp>
        <p:nvSpPr>
          <p:cNvPr id="25" name="Text 23"/>
          <p:cNvSpPr txBox="1"/>
          <p:nvPr/>
        </p:nvSpPr>
        <p:spPr>
          <a:xfrm>
            <a:off x="6400800" y="3474720"/>
            <a:ext cx="2011680" cy="457200"/>
          </a:xfrm>
          <a:prstGeom prst="rect">
            <a:avLst/>
          </a:prstGeom>
          <a:noFill/>
          <a:ln/>
        </p:spPr>
        <p:txBody>
          <a:bodyPr wrap="square" lIns="0" tIns="0" rIns="0" bIns="0" rtlCol="0" anchor="ctr"/>
          <a:lstStyle/>
          <a:p>
            <a:pPr marL="0" indent="0">
              <a:buNone/>
            </a:pPr>
            <a:r>
              <a:rPr lang="en-US" sz="1200" dirty="0">
                <a:solidFill>
                  <a:schemeClr val="tx1"/>
                </a:solidFill>
              </a:rPr>
              <a:t>403 in the API's own error shape</a:t>
            </a:r>
            <a:endParaRPr lang="en-US" sz="1200" dirty="0"/>
          </a:p>
        </p:txBody>
      </p:sp>
      <p:sp>
        <p:nvSpPr>
          <p:cNvPr id="26" name="Text 24"/>
          <p:cNvSpPr txBox="1"/>
          <p:nvPr/>
        </p:nvSpPr>
        <p:spPr>
          <a:xfrm>
            <a:off x="566928" y="4251960"/>
            <a:ext cx="8001000" cy="274320"/>
          </a:xfrm>
          <a:prstGeom prst="rect">
            <a:avLst/>
          </a:prstGeom>
          <a:noFill/>
          <a:ln/>
        </p:spPr>
        <p:txBody>
          <a:bodyPr wrap="square" lIns="0" tIns="0" rIns="0" bIns="0" rtlCol="0" anchor="t"/>
          <a:lstStyle/>
          <a:p>
            <a:pPr marL="0" indent="0">
              <a:buNone/>
            </a:pPr>
            <a:r>
              <a:rPr lang="en-US" sz="1300" dirty="0">
                <a:solidFill>
                  <a:schemeClr val="tx2"/>
                </a:solidFill>
              </a:rPr>
              <a:t>Report mode by default. Enforcement is switched on per class, never globally.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566928" y="566928"/>
            <a:ext cx="8001000" cy="512064"/>
          </a:xfrm>
          <a:prstGeom prst="rect">
            <a:avLst/>
          </a:prstGeom>
          <a:noFill/>
          <a:ln/>
        </p:spPr>
        <p:txBody>
          <a:bodyPr wrap="square" lIns="0" tIns="0" rIns="0" bIns="0" rtlCol="0" anchor="ctr"/>
          <a:lstStyle/>
          <a:p>
            <a:pPr marL="0" indent="0">
              <a:buNone/>
            </a:pPr>
            <a:r>
              <a:rPr lang="en-US" sz="2850" b="1" dirty="0">
                <a:solidFill>
                  <a:schemeClr val="tx1"/>
                </a:solidFill>
              </a:rPr>
              <a:t>Policy declared as data</a:t>
            </a:r>
            <a:endParaRPr lang="en-US" sz="2850" dirty="0"/>
          </a:p>
        </p:txBody>
      </p:sp>
      <p:sp>
        <p:nvSpPr>
          <p:cNvPr id="3" name="Text 1"/>
          <p:cNvSpPr txBox="1"/>
          <p:nvPr/>
        </p:nvSpPr>
        <p:spPr>
          <a:xfrm>
            <a:off x="7653528" y="4864608"/>
            <a:ext cx="914400" cy="219456"/>
          </a:xfrm>
          <a:prstGeom prst="rect">
            <a:avLst/>
          </a:prstGeom>
          <a:noFill/>
          <a:ln/>
        </p:spPr>
        <p:txBody>
          <a:bodyPr wrap="square" lIns="0" tIns="0" rIns="0" bIns="0" rtlCol="0" anchor="ctr"/>
          <a:lstStyle/>
          <a:p>
            <a:pPr marL="0" indent="0" algn="r">
              <a:buNone/>
            </a:pPr>
            <a:r>
              <a:rPr lang="en-US" sz="1130" dirty="0">
                <a:solidFill>
                  <a:schemeClr val="tx2"/>
                </a:solidFill>
                <a:latin typeface="JetBrains Mono" pitchFamily="34" charset="0"/>
                <a:ea typeface="JetBrains Mono" pitchFamily="34" charset="-122"/>
                <a:cs typeface="JetBrains Mono" pitchFamily="34" charset="-120"/>
              </a:rPr>
              <a:t>06 / 16</a:t>
            </a:r>
            <a:endParaRPr lang="en-US" sz="1130" dirty="0"/>
          </a:p>
        </p:txBody>
      </p:sp>
      <p:sp>
        <p:nvSpPr>
          <p:cNvPr id="4" name="Policy snippet"/>
          <p:cNvSpPr/>
          <p:nvPr/>
        </p:nvSpPr>
        <p:spPr>
          <a:xfrm>
            <a:off x="566928" y="1325880"/>
            <a:ext cx="4206240" cy="3246120"/>
          </a:xfrm>
          <a:prstGeom prst="rect">
            <a:avLst/>
          </a:prstGeom>
          <a:solidFill>
            <a:schemeClr val="bg2"/>
          </a:solidFill>
          <a:ln/>
        </p:spPr>
        <p:txBody>
          <a:bodyPr/>
          <a:lstStyle/>
          <a:p>
            <a:endParaRPr lang="en-US"/>
          </a:p>
        </p:txBody>
      </p:sp>
      <p:sp>
        <p:nvSpPr>
          <p:cNvPr id="5" name="Text 3"/>
          <p:cNvSpPr txBox="1"/>
          <p:nvPr/>
        </p:nvSpPr>
        <p:spPr>
          <a:xfrm>
            <a:off x="749808" y="1463040"/>
            <a:ext cx="3931920" cy="3017520"/>
          </a:xfrm>
          <a:prstGeom prst="rect">
            <a:avLst/>
          </a:prstGeom>
          <a:noFill/>
          <a:ln/>
        </p:spPr>
        <p:txBody>
          <a:bodyPr wrap="square" lIns="0" tIns="0" rIns="0" bIns="0" rtlCol="0" anchor="t"/>
          <a:lstStyle/>
          <a:p>
            <a:pPr marL="0" indent="0">
              <a:buNone/>
            </a:pPr>
            <a:r>
              <a:rPr lang="en-US" sz="1050" dirty="0">
                <a:solidFill>
                  <a:schemeClr val="tx1"/>
                </a:solidFill>
                <a:latin typeface="JetBrains Mono" pitchFamily="34" charset="0"/>
                <a:ea typeface="JetBrains Mono" pitchFamily="34" charset="-122"/>
                <a:cs typeface="JetBrains Mono" pitchFamily="34" charset="-120"/>
              </a:rPr>
              <a:t>{ "id": "source-code",</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  "owner": "engineering",</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  "detectors": {</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    "source_labels": ["repo:core-platform"],</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    "path_globs": ["**/core-platform/**"],</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    "keywords": ["ProjectX"] },</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  "classifier": { "enabled": true,</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    "block_at": 0.90, "hold_at": 0.50,</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    "classifier_raw": false },</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  "actions": {</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    "approved-tenant": "allow",</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    "consumer-chat":   "block",</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    "public-api":      "block" },</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  "mode": "report" }</a:t>
            </a:r>
            <a:endParaRPr lang="en-US" sz="1050" dirty="0"/>
          </a:p>
        </p:txBody>
      </p:sp>
      <p:sp>
        <p:nvSpPr>
          <p:cNvPr id="6" name="Text 4"/>
          <p:cNvSpPr txBox="1"/>
          <p:nvPr/>
        </p:nvSpPr>
        <p:spPr>
          <a:xfrm>
            <a:off x="5029200" y="1325880"/>
            <a:ext cx="3474720" cy="274320"/>
          </a:xfrm>
          <a:prstGeom prst="rect">
            <a:avLst/>
          </a:prstGeom>
          <a:noFill/>
          <a:ln/>
        </p:spPr>
        <p:txBody>
          <a:bodyPr wrap="square" lIns="0" tIns="0" rIns="0" bIns="0" rtlCol="0" anchor="t"/>
          <a:lstStyle/>
          <a:p>
            <a:pPr marL="0" indent="0">
              <a:buNone/>
            </a:pPr>
            <a:r>
              <a:rPr lang="en-US" sz="1200" dirty="0">
                <a:solidFill>
                  <a:schemeClr val="tx2"/>
                </a:solidFill>
              </a:rPr>
              <a:t>Schema rules</a:t>
            </a:r>
            <a:endParaRPr lang="en-US" sz="1200" dirty="0"/>
          </a:p>
        </p:txBody>
      </p:sp>
      <p:sp>
        <p:nvSpPr>
          <p:cNvPr id="7" name="Text 5"/>
          <p:cNvSpPr txBox="1"/>
          <p:nvPr/>
        </p:nvSpPr>
        <p:spPr>
          <a:xfrm>
            <a:off x="5029200" y="1691640"/>
            <a:ext cx="274320" cy="411480"/>
          </a:xfrm>
          <a:prstGeom prst="rect">
            <a:avLst/>
          </a:prstGeom>
          <a:noFill/>
          <a:ln/>
        </p:spPr>
        <p:txBody>
          <a:bodyPr wrap="square" lIns="0" tIns="0" rIns="0" bIns="0" rtlCol="0" anchor="t"/>
          <a:lstStyle/>
          <a:p>
            <a:pPr marL="0" indent="0">
              <a:buNone/>
            </a:pPr>
            <a:r>
              <a:rPr lang="en-US" sz="1300" b="1" dirty="0">
                <a:solidFill>
                  <a:srgbClr val="00B0F0"/>
                </a:solidFill>
              </a:rPr>
              <a:t>1</a:t>
            </a:r>
            <a:endParaRPr lang="en-US" sz="1300" dirty="0"/>
          </a:p>
        </p:txBody>
      </p:sp>
      <p:sp>
        <p:nvSpPr>
          <p:cNvPr id="8" name="Text 6"/>
          <p:cNvSpPr txBox="1"/>
          <p:nvPr/>
        </p:nvSpPr>
        <p:spPr>
          <a:xfrm>
            <a:off x="5349240" y="1691640"/>
            <a:ext cx="3200400" cy="411480"/>
          </a:xfrm>
          <a:prstGeom prst="rect">
            <a:avLst/>
          </a:prstGeom>
          <a:noFill/>
          <a:ln/>
        </p:spPr>
        <p:txBody>
          <a:bodyPr wrap="square" lIns="0" tIns="0" rIns="0" bIns="0" rtlCol="0" anchor="t"/>
          <a:lstStyle/>
          <a:p>
            <a:pPr marL="0" indent="0">
              <a:buNone/>
            </a:pPr>
            <a:r>
              <a:rPr lang="en-US" sz="1300" dirty="0">
                <a:solidFill>
                  <a:schemeClr val="tx1"/>
                </a:solidFill>
              </a:rPr>
              <a:t>A class needs id, description, owner</a:t>
            </a:r>
            <a:endParaRPr lang="en-US" sz="1300" dirty="0"/>
          </a:p>
        </p:txBody>
      </p:sp>
      <p:sp>
        <p:nvSpPr>
          <p:cNvPr id="9" name="Text 7"/>
          <p:cNvSpPr txBox="1"/>
          <p:nvPr/>
        </p:nvSpPr>
        <p:spPr>
          <a:xfrm>
            <a:off x="5029200" y="2167128"/>
            <a:ext cx="274320" cy="411480"/>
          </a:xfrm>
          <a:prstGeom prst="rect">
            <a:avLst/>
          </a:prstGeom>
          <a:noFill/>
          <a:ln/>
        </p:spPr>
        <p:txBody>
          <a:bodyPr wrap="square" lIns="0" tIns="0" rIns="0" bIns="0" rtlCol="0" anchor="t"/>
          <a:lstStyle/>
          <a:p>
            <a:pPr marL="0" indent="0">
              <a:buNone/>
            </a:pPr>
            <a:r>
              <a:rPr lang="en-US" sz="1300" b="1" dirty="0">
                <a:solidFill>
                  <a:srgbClr val="00B0F0"/>
                </a:solidFill>
              </a:rPr>
              <a:t>2</a:t>
            </a:r>
            <a:endParaRPr lang="en-US" sz="1300" dirty="0"/>
          </a:p>
        </p:txBody>
      </p:sp>
      <p:sp>
        <p:nvSpPr>
          <p:cNvPr id="10" name="Text 8"/>
          <p:cNvSpPr txBox="1"/>
          <p:nvPr/>
        </p:nvSpPr>
        <p:spPr>
          <a:xfrm>
            <a:off x="5349240" y="2167128"/>
            <a:ext cx="3200400" cy="411480"/>
          </a:xfrm>
          <a:prstGeom prst="rect">
            <a:avLst/>
          </a:prstGeom>
          <a:noFill/>
          <a:ln/>
        </p:spPr>
        <p:txBody>
          <a:bodyPr wrap="square" lIns="0" tIns="0" rIns="0" bIns="0" rtlCol="0" anchor="t"/>
          <a:lstStyle/>
          <a:p>
            <a:pPr marL="0" indent="0">
              <a:buNone/>
            </a:pPr>
            <a:r>
              <a:rPr lang="en-US" sz="1300" dirty="0">
                <a:solidFill>
                  <a:schemeClr val="tx1"/>
                </a:solidFill>
              </a:rPr>
              <a:t>An action for every destination category</a:t>
            </a:r>
            <a:endParaRPr lang="en-US" sz="1300" dirty="0"/>
          </a:p>
        </p:txBody>
      </p:sp>
      <p:sp>
        <p:nvSpPr>
          <p:cNvPr id="11" name="Text 9"/>
          <p:cNvSpPr txBox="1"/>
          <p:nvPr/>
        </p:nvSpPr>
        <p:spPr>
          <a:xfrm>
            <a:off x="5029200" y="2642616"/>
            <a:ext cx="274320" cy="411480"/>
          </a:xfrm>
          <a:prstGeom prst="rect">
            <a:avLst/>
          </a:prstGeom>
          <a:noFill/>
          <a:ln/>
        </p:spPr>
        <p:txBody>
          <a:bodyPr wrap="square" lIns="0" tIns="0" rIns="0" bIns="0" rtlCol="0" anchor="t"/>
          <a:lstStyle/>
          <a:p>
            <a:pPr marL="0" indent="0">
              <a:buNone/>
            </a:pPr>
            <a:r>
              <a:rPr lang="en-US" sz="1300" b="1" dirty="0">
                <a:solidFill>
                  <a:srgbClr val="00B0F0"/>
                </a:solidFill>
              </a:rPr>
              <a:t>3</a:t>
            </a:r>
            <a:endParaRPr lang="en-US" sz="1300" dirty="0"/>
          </a:p>
        </p:txBody>
      </p:sp>
      <p:sp>
        <p:nvSpPr>
          <p:cNvPr id="12" name="Text 10"/>
          <p:cNvSpPr txBox="1"/>
          <p:nvPr/>
        </p:nvSpPr>
        <p:spPr>
          <a:xfrm>
            <a:off x="5349240" y="2642616"/>
            <a:ext cx="3200400" cy="411480"/>
          </a:xfrm>
          <a:prstGeom prst="rect">
            <a:avLst/>
          </a:prstGeom>
          <a:noFill/>
          <a:ln/>
        </p:spPr>
        <p:txBody>
          <a:bodyPr wrap="square" lIns="0" tIns="0" rIns="0" bIns="0" rtlCol="0" anchor="t"/>
          <a:lstStyle/>
          <a:p>
            <a:pPr marL="0" indent="0">
              <a:buNone/>
            </a:pPr>
            <a:r>
              <a:rPr lang="en-US" sz="1300" dirty="0">
                <a:solidFill>
                  <a:schemeClr val="tx1"/>
                </a:solidFill>
              </a:rPr>
              <a:t>Unknown fields rejected: a typo cannot switch a detector off</a:t>
            </a:r>
            <a:endParaRPr lang="en-US" sz="1300" dirty="0"/>
          </a:p>
        </p:txBody>
      </p:sp>
      <p:sp>
        <p:nvSpPr>
          <p:cNvPr id="13" name="Text 11"/>
          <p:cNvSpPr txBox="1"/>
          <p:nvPr/>
        </p:nvSpPr>
        <p:spPr>
          <a:xfrm>
            <a:off x="5029200" y="3118104"/>
            <a:ext cx="274320" cy="411480"/>
          </a:xfrm>
          <a:prstGeom prst="rect">
            <a:avLst/>
          </a:prstGeom>
          <a:noFill/>
          <a:ln/>
        </p:spPr>
        <p:txBody>
          <a:bodyPr wrap="square" lIns="0" tIns="0" rIns="0" bIns="0" rtlCol="0" anchor="t"/>
          <a:lstStyle/>
          <a:p>
            <a:pPr marL="0" indent="0">
              <a:buNone/>
            </a:pPr>
            <a:r>
              <a:rPr lang="en-US" sz="1300" b="1" dirty="0">
                <a:solidFill>
                  <a:srgbClr val="00B0F0"/>
                </a:solidFill>
              </a:rPr>
              <a:t>4</a:t>
            </a:r>
            <a:endParaRPr lang="en-US" sz="1300" dirty="0"/>
          </a:p>
        </p:txBody>
      </p:sp>
      <p:sp>
        <p:nvSpPr>
          <p:cNvPr id="14" name="Text 12"/>
          <p:cNvSpPr txBox="1"/>
          <p:nvPr/>
        </p:nvSpPr>
        <p:spPr>
          <a:xfrm>
            <a:off x="5349240" y="3118104"/>
            <a:ext cx="3200400" cy="411480"/>
          </a:xfrm>
          <a:prstGeom prst="rect">
            <a:avLst/>
          </a:prstGeom>
          <a:noFill/>
          <a:ln/>
        </p:spPr>
        <p:txBody>
          <a:bodyPr wrap="square" lIns="0" tIns="0" rIns="0" bIns="0" rtlCol="0" anchor="t"/>
          <a:lstStyle/>
          <a:p>
            <a:pPr marL="0" indent="0">
              <a:buNone/>
            </a:pPr>
            <a:r>
              <a:rPr lang="en-US" sz="1300" dirty="0">
                <a:solidFill>
                  <a:schemeClr val="tx1"/>
                </a:solidFill>
              </a:rPr>
              <a:t>Invalid at startup: refuse to start</a:t>
            </a:r>
            <a:endParaRPr lang="en-US" sz="1300" dirty="0"/>
          </a:p>
        </p:txBody>
      </p:sp>
      <p:sp>
        <p:nvSpPr>
          <p:cNvPr id="15" name="Text 13"/>
          <p:cNvSpPr txBox="1"/>
          <p:nvPr/>
        </p:nvSpPr>
        <p:spPr>
          <a:xfrm>
            <a:off x="5029200" y="3593592"/>
            <a:ext cx="274320" cy="411480"/>
          </a:xfrm>
          <a:prstGeom prst="rect">
            <a:avLst/>
          </a:prstGeom>
          <a:noFill/>
          <a:ln/>
        </p:spPr>
        <p:txBody>
          <a:bodyPr wrap="square" lIns="0" tIns="0" rIns="0" bIns="0" rtlCol="0" anchor="t"/>
          <a:lstStyle/>
          <a:p>
            <a:pPr marL="0" indent="0">
              <a:buNone/>
            </a:pPr>
            <a:r>
              <a:rPr lang="en-US" sz="1300" b="1" dirty="0">
                <a:solidFill>
                  <a:srgbClr val="00B0F0"/>
                </a:solidFill>
              </a:rPr>
              <a:t>5</a:t>
            </a:r>
            <a:endParaRPr lang="en-US" sz="1300" dirty="0"/>
          </a:p>
        </p:txBody>
      </p:sp>
      <p:sp>
        <p:nvSpPr>
          <p:cNvPr id="16" name="Text 14"/>
          <p:cNvSpPr txBox="1"/>
          <p:nvPr/>
        </p:nvSpPr>
        <p:spPr>
          <a:xfrm>
            <a:off x="5349240" y="3593592"/>
            <a:ext cx="3200400" cy="411480"/>
          </a:xfrm>
          <a:prstGeom prst="rect">
            <a:avLst/>
          </a:prstGeom>
          <a:noFill/>
          <a:ln/>
        </p:spPr>
        <p:txBody>
          <a:bodyPr wrap="square" lIns="0" tIns="0" rIns="0" bIns="0" rtlCol="0" anchor="t"/>
          <a:lstStyle/>
          <a:p>
            <a:pPr marL="0" indent="0">
              <a:buNone/>
            </a:pPr>
            <a:r>
              <a:rPr lang="en-US" sz="1300" dirty="0">
                <a:solidFill>
                  <a:schemeClr val="tx1"/>
                </a:solidFill>
              </a:rPr>
              <a:t>Invalid on reload: keep the last good policy</a:t>
            </a:r>
            <a:endParaRPr lang="en-US" sz="1300" dirty="0"/>
          </a:p>
        </p:txBody>
      </p:sp>
      <p:sp>
        <p:nvSpPr>
          <p:cNvPr id="17" name="Text 15"/>
          <p:cNvSpPr txBox="1"/>
          <p:nvPr/>
        </p:nvSpPr>
        <p:spPr>
          <a:xfrm>
            <a:off x="5029200" y="4069080"/>
            <a:ext cx="274320" cy="411480"/>
          </a:xfrm>
          <a:prstGeom prst="rect">
            <a:avLst/>
          </a:prstGeom>
          <a:noFill/>
          <a:ln/>
        </p:spPr>
        <p:txBody>
          <a:bodyPr wrap="square" lIns="0" tIns="0" rIns="0" bIns="0" rtlCol="0" anchor="t"/>
          <a:lstStyle/>
          <a:p>
            <a:pPr marL="0" indent="0">
              <a:buNone/>
            </a:pPr>
            <a:r>
              <a:rPr lang="en-US" sz="1300" b="1" dirty="0">
                <a:solidFill>
                  <a:srgbClr val="00B0F0"/>
                </a:solidFill>
              </a:rPr>
              <a:t>6</a:t>
            </a:r>
            <a:endParaRPr lang="en-US" sz="1300" dirty="0"/>
          </a:p>
        </p:txBody>
      </p:sp>
      <p:sp>
        <p:nvSpPr>
          <p:cNvPr id="18" name="Text 16"/>
          <p:cNvSpPr txBox="1"/>
          <p:nvPr/>
        </p:nvSpPr>
        <p:spPr>
          <a:xfrm>
            <a:off x="5349240" y="4069080"/>
            <a:ext cx="3200400" cy="411480"/>
          </a:xfrm>
          <a:prstGeom prst="rect">
            <a:avLst/>
          </a:prstGeom>
          <a:noFill/>
          <a:ln/>
        </p:spPr>
        <p:txBody>
          <a:bodyPr wrap="square" lIns="0" tIns="0" rIns="0" bIns="0" rtlCol="0" anchor="t"/>
          <a:lstStyle/>
          <a:p>
            <a:pPr marL="0" indent="0">
              <a:buNone/>
            </a:pPr>
            <a:r>
              <a:rPr lang="en-US" sz="1300" dirty="0">
                <a:solidFill>
                  <a:schemeClr val="tx1"/>
                </a:solidFill>
              </a:rPr>
              <a:t>Unlisted destination: treated as strictest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566928" y="566928"/>
            <a:ext cx="8001000" cy="512064"/>
          </a:xfrm>
          <a:prstGeom prst="rect">
            <a:avLst/>
          </a:prstGeom>
          <a:noFill/>
          <a:ln/>
        </p:spPr>
        <p:txBody>
          <a:bodyPr wrap="square" lIns="0" tIns="0" rIns="0" bIns="0" rtlCol="0" anchor="ctr"/>
          <a:lstStyle/>
          <a:p>
            <a:pPr marL="0" indent="0">
              <a:buNone/>
            </a:pPr>
            <a:r>
              <a:rPr lang="en-US" sz="2850" b="1" dirty="0">
                <a:solidFill>
                  <a:schemeClr val="tx1"/>
                </a:solidFill>
              </a:rPr>
              <a:t>Integration: one environment variable</a:t>
            </a:r>
            <a:endParaRPr lang="en-US" sz="2850" dirty="0"/>
          </a:p>
        </p:txBody>
      </p:sp>
      <p:sp>
        <p:nvSpPr>
          <p:cNvPr id="3" name="Text 1"/>
          <p:cNvSpPr txBox="1"/>
          <p:nvPr/>
        </p:nvSpPr>
        <p:spPr>
          <a:xfrm>
            <a:off x="7653528" y="4864608"/>
            <a:ext cx="914400" cy="219456"/>
          </a:xfrm>
          <a:prstGeom prst="rect">
            <a:avLst/>
          </a:prstGeom>
          <a:noFill/>
          <a:ln/>
        </p:spPr>
        <p:txBody>
          <a:bodyPr wrap="square" lIns="0" tIns="0" rIns="0" bIns="0" rtlCol="0" anchor="ctr"/>
          <a:lstStyle/>
          <a:p>
            <a:pPr marL="0" indent="0" algn="r">
              <a:buNone/>
            </a:pPr>
            <a:r>
              <a:rPr lang="en-US" sz="1130" dirty="0">
                <a:solidFill>
                  <a:schemeClr val="tx2"/>
                </a:solidFill>
                <a:latin typeface="JetBrains Mono" pitchFamily="34" charset="0"/>
                <a:ea typeface="JetBrains Mono" pitchFamily="34" charset="-122"/>
                <a:cs typeface="JetBrains Mono" pitchFamily="34" charset="-120"/>
              </a:rPr>
              <a:t>07 / 16</a:t>
            </a:r>
            <a:endParaRPr lang="en-US" sz="1130" dirty="0"/>
          </a:p>
        </p:txBody>
      </p:sp>
      <p:sp>
        <p:nvSpPr>
          <p:cNvPr id="4" name="Integration code"/>
          <p:cNvSpPr/>
          <p:nvPr/>
        </p:nvSpPr>
        <p:spPr>
          <a:xfrm>
            <a:off x="566928" y="1325880"/>
            <a:ext cx="4983480" cy="3246120"/>
          </a:xfrm>
          <a:prstGeom prst="rect">
            <a:avLst/>
          </a:prstGeom>
          <a:solidFill>
            <a:schemeClr val="bg2"/>
          </a:solidFill>
          <a:ln/>
        </p:spPr>
        <p:txBody>
          <a:bodyPr/>
          <a:lstStyle/>
          <a:p>
            <a:endParaRPr lang="en-US"/>
          </a:p>
        </p:txBody>
      </p:sp>
      <p:sp>
        <p:nvSpPr>
          <p:cNvPr id="5" name="Text 3"/>
          <p:cNvSpPr txBox="1"/>
          <p:nvPr/>
        </p:nvSpPr>
        <p:spPr>
          <a:xfrm>
            <a:off x="749808" y="1481328"/>
            <a:ext cx="4663440" cy="2971800"/>
          </a:xfrm>
          <a:prstGeom prst="rect">
            <a:avLst/>
          </a:prstGeom>
          <a:noFill/>
          <a:ln/>
        </p:spPr>
        <p:txBody>
          <a:bodyPr wrap="square" lIns="0" tIns="0" rIns="0" bIns="0" rtlCol="0" anchor="t"/>
          <a:lstStyle/>
          <a:p>
            <a:pPr marL="0" indent="0">
              <a:buNone/>
            </a:pPr>
            <a:r>
              <a:rPr lang="en-US" sz="1050" dirty="0">
                <a:solidFill>
                  <a:schemeClr val="tx1"/>
                </a:solidFill>
                <a:latin typeface="JetBrains Mono" pitchFamily="34" charset="0"/>
                <a:ea typeface="JetBrains Mono" pitchFamily="34" charset="-122"/>
                <a:cs typeface="JetBrains Mono" pitchFamily="34" charset="-120"/>
              </a:rPr>
              <a:t>./swarmsheriff -policy policy.json \</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    -proxy 127.0.0.1:8788</a:t>
            </a:r>
            <a:endParaRPr lang="en-US" sz="1050" dirty="0"/>
          </a:p>
          <a:p>
            <a:pPr marL="0" indent="0">
              <a:buNone/>
            </a:pP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export ANTHROPIC_BASE_URL=\</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  http://127.0.0.1:8788/api.anthropic.com</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export OPENAI_BASE_URL=\</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  http://127.0.0.1:8788/api.openai.com/v1</a:t>
            </a:r>
            <a:endParaRPr lang="en-US" sz="1050" dirty="0"/>
          </a:p>
          <a:p>
            <a:pPr marL="0" indent="0">
              <a:buNone/>
            </a:pP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 optional, stripped before forwarding</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X-Swarmsheriff-Labels: repo:core-platform</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X-Swarmsheriff-Agent:  build-bot</a:t>
            </a:r>
            <a:endParaRPr lang="en-US" sz="1050" dirty="0"/>
          </a:p>
        </p:txBody>
      </p:sp>
      <p:sp>
        <p:nvSpPr>
          <p:cNvPr id="6" name="Shape 4"/>
          <p:cNvSpPr/>
          <p:nvPr/>
        </p:nvSpPr>
        <p:spPr>
          <a:xfrm>
            <a:off x="5760720" y="1325880"/>
            <a:ext cx="2807208" cy="1554480"/>
          </a:xfrm>
          <a:prstGeom prst="rect">
            <a:avLst/>
          </a:prstGeom>
          <a:solidFill>
            <a:schemeClr val="bg2"/>
          </a:solidFill>
          <a:ln/>
        </p:spPr>
        <p:txBody>
          <a:bodyPr/>
          <a:lstStyle/>
          <a:p>
            <a:endParaRPr lang="en-US"/>
          </a:p>
        </p:txBody>
      </p:sp>
      <p:sp>
        <p:nvSpPr>
          <p:cNvPr id="7" name="Text 5"/>
          <p:cNvSpPr txBox="1"/>
          <p:nvPr/>
        </p:nvSpPr>
        <p:spPr>
          <a:xfrm>
            <a:off x="5943600" y="1490472"/>
            <a:ext cx="2441448" cy="548640"/>
          </a:xfrm>
          <a:prstGeom prst="rect">
            <a:avLst/>
          </a:prstGeom>
          <a:noFill/>
          <a:ln/>
        </p:spPr>
        <p:txBody>
          <a:bodyPr wrap="square" lIns="0" tIns="0" rIns="0" bIns="0" rtlCol="0" anchor="t"/>
          <a:lstStyle/>
          <a:p>
            <a:pPr marL="0" indent="0">
              <a:buNone/>
            </a:pPr>
            <a:r>
              <a:rPr lang="en-US" sz="2850" b="1" dirty="0">
                <a:solidFill>
                  <a:srgbClr val="00B0F0"/>
                </a:solidFill>
              </a:rPr>
              <a:t>46 µs</a:t>
            </a:r>
            <a:endParaRPr lang="en-US" sz="2850" dirty="0"/>
          </a:p>
        </p:txBody>
      </p:sp>
      <p:sp>
        <p:nvSpPr>
          <p:cNvPr id="8" name="Text 6"/>
          <p:cNvSpPr txBox="1"/>
          <p:nvPr/>
        </p:nvSpPr>
        <p:spPr>
          <a:xfrm>
            <a:off x="5943600" y="2075688"/>
            <a:ext cx="2487168" cy="274320"/>
          </a:xfrm>
          <a:prstGeom prst="rect">
            <a:avLst/>
          </a:prstGeom>
          <a:noFill/>
          <a:ln/>
        </p:spPr>
        <p:txBody>
          <a:bodyPr wrap="square" lIns="0" tIns="0" rIns="0" bIns="0" rtlCol="0" anchor="t"/>
          <a:lstStyle/>
          <a:p>
            <a:pPr marL="0" indent="0">
              <a:buNone/>
            </a:pPr>
            <a:r>
              <a:rPr lang="en-US" sz="1300" dirty="0">
                <a:solidFill>
                  <a:schemeClr val="tx1"/>
                </a:solidFill>
              </a:rPr>
              <a:t>p95 per decision, eval corpus</a:t>
            </a:r>
            <a:endParaRPr lang="en-US" sz="1300" dirty="0"/>
          </a:p>
        </p:txBody>
      </p:sp>
      <p:sp>
        <p:nvSpPr>
          <p:cNvPr id="9" name="Text 7"/>
          <p:cNvSpPr txBox="1"/>
          <p:nvPr/>
        </p:nvSpPr>
        <p:spPr>
          <a:xfrm>
            <a:off x="5943600" y="2350008"/>
            <a:ext cx="2487168" cy="411480"/>
          </a:xfrm>
          <a:prstGeom prst="rect">
            <a:avLst/>
          </a:prstGeom>
          <a:noFill/>
          <a:ln/>
        </p:spPr>
        <p:txBody>
          <a:bodyPr wrap="square" lIns="0" tIns="0" rIns="0" bIns="0" rtlCol="0" anchor="t"/>
          <a:lstStyle/>
          <a:p>
            <a:pPr marL="0" indent="0">
              <a:buNone/>
            </a:pPr>
            <a:r>
              <a:rPr lang="en-US" sz="1200" dirty="0">
                <a:solidFill>
                  <a:schemeClr val="tx2"/>
                </a:solidFill>
              </a:rPr>
              <a:t>p50 18 µs, p99 64 µs</a:t>
            </a:r>
            <a:endParaRPr lang="en-US" sz="1200" dirty="0"/>
          </a:p>
        </p:txBody>
      </p:sp>
      <p:sp>
        <p:nvSpPr>
          <p:cNvPr id="10" name="Shape 8"/>
          <p:cNvSpPr/>
          <p:nvPr/>
        </p:nvSpPr>
        <p:spPr>
          <a:xfrm>
            <a:off x="5760720" y="3017520"/>
            <a:ext cx="2807208" cy="1554480"/>
          </a:xfrm>
          <a:prstGeom prst="rect">
            <a:avLst/>
          </a:prstGeom>
          <a:solidFill>
            <a:schemeClr val="bg2"/>
          </a:solidFill>
          <a:ln/>
        </p:spPr>
        <p:txBody>
          <a:bodyPr/>
          <a:lstStyle/>
          <a:p>
            <a:endParaRPr lang="en-US"/>
          </a:p>
        </p:txBody>
      </p:sp>
      <p:sp>
        <p:nvSpPr>
          <p:cNvPr id="11" name="Text 9"/>
          <p:cNvSpPr txBox="1"/>
          <p:nvPr/>
        </p:nvSpPr>
        <p:spPr>
          <a:xfrm>
            <a:off x="5943600" y="3182112"/>
            <a:ext cx="2441448" cy="548640"/>
          </a:xfrm>
          <a:prstGeom prst="rect">
            <a:avLst/>
          </a:prstGeom>
          <a:noFill/>
          <a:ln/>
        </p:spPr>
        <p:txBody>
          <a:bodyPr wrap="square" lIns="0" tIns="0" rIns="0" bIns="0" rtlCol="0" anchor="t"/>
          <a:lstStyle/>
          <a:p>
            <a:pPr marL="0" indent="0">
              <a:buNone/>
            </a:pPr>
            <a:r>
              <a:rPr lang="en-US" sz="2850" b="1" dirty="0">
                <a:solidFill>
                  <a:srgbClr val="00B0F0"/>
                </a:solidFill>
              </a:rPr>
              <a:t>38.1 ms</a:t>
            </a:r>
            <a:endParaRPr lang="en-US" sz="2850" dirty="0"/>
          </a:p>
        </p:txBody>
      </p:sp>
      <p:sp>
        <p:nvSpPr>
          <p:cNvPr id="12" name="Text 10"/>
          <p:cNvSpPr txBox="1"/>
          <p:nvPr/>
        </p:nvSpPr>
        <p:spPr>
          <a:xfrm>
            <a:off x="5943600" y="3767328"/>
            <a:ext cx="2487168" cy="274320"/>
          </a:xfrm>
          <a:prstGeom prst="rect">
            <a:avLst/>
          </a:prstGeom>
          <a:noFill/>
          <a:ln/>
        </p:spPr>
        <p:txBody>
          <a:bodyPr wrap="square" lIns="0" tIns="0" rIns="0" bIns="0" rtlCol="0" anchor="t"/>
          <a:lstStyle/>
          <a:p>
            <a:pPr marL="0" indent="0">
              <a:buNone/>
            </a:pPr>
            <a:r>
              <a:rPr lang="en-US" sz="1300" dirty="0">
                <a:solidFill>
                  <a:schemeClr val="tx1"/>
                </a:solidFill>
              </a:rPr>
              <a:t>worst p95, real agent text</a:t>
            </a:r>
            <a:endParaRPr lang="en-US" sz="1300" dirty="0"/>
          </a:p>
        </p:txBody>
      </p:sp>
      <p:sp>
        <p:nvSpPr>
          <p:cNvPr id="13" name="Text 11"/>
          <p:cNvSpPr txBox="1"/>
          <p:nvPr/>
        </p:nvSpPr>
        <p:spPr>
          <a:xfrm>
            <a:off x="5943600" y="4041648"/>
            <a:ext cx="2487168" cy="411480"/>
          </a:xfrm>
          <a:prstGeom prst="rect">
            <a:avLst/>
          </a:prstGeom>
          <a:noFill/>
          <a:ln/>
        </p:spPr>
        <p:txBody>
          <a:bodyPr wrap="square" lIns="0" tIns="0" rIns="0" bIns="0" rtlCol="0" anchor="t"/>
          <a:lstStyle/>
          <a:p>
            <a:pPr marL="0" indent="0">
              <a:buNone/>
            </a:pPr>
            <a:r>
              <a:rPr lang="en-US" sz="1200" dirty="0">
                <a:solidFill>
                  <a:schemeClr val="tx2"/>
                </a:solidFill>
              </a:rPr>
              <a:t>long agent memories, 3.18M rows replayed; target 100 ms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566928" y="566928"/>
            <a:ext cx="8001000" cy="512064"/>
          </a:xfrm>
          <a:prstGeom prst="rect">
            <a:avLst/>
          </a:prstGeom>
          <a:noFill/>
          <a:ln/>
        </p:spPr>
        <p:txBody>
          <a:bodyPr wrap="square" lIns="0" tIns="0" rIns="0" bIns="0" rtlCol="0" anchor="ctr"/>
          <a:lstStyle/>
          <a:p>
            <a:pPr marL="0" indent="0">
              <a:buNone/>
            </a:pPr>
            <a:r>
              <a:rPr lang="en-US" sz="2850" b="1" dirty="0">
                <a:solidFill>
                  <a:schemeClr val="tx1"/>
                </a:solidFill>
              </a:rPr>
              <a:t>Store counts, not content</a:t>
            </a:r>
            <a:endParaRPr lang="en-US" sz="2850" dirty="0"/>
          </a:p>
        </p:txBody>
      </p:sp>
      <p:sp>
        <p:nvSpPr>
          <p:cNvPr id="3" name="Text 1"/>
          <p:cNvSpPr txBox="1"/>
          <p:nvPr/>
        </p:nvSpPr>
        <p:spPr>
          <a:xfrm>
            <a:off x="7653528" y="4864608"/>
            <a:ext cx="914400" cy="219456"/>
          </a:xfrm>
          <a:prstGeom prst="rect">
            <a:avLst/>
          </a:prstGeom>
          <a:noFill/>
          <a:ln/>
        </p:spPr>
        <p:txBody>
          <a:bodyPr wrap="square" lIns="0" tIns="0" rIns="0" bIns="0" rtlCol="0" anchor="ctr"/>
          <a:lstStyle/>
          <a:p>
            <a:pPr marL="0" indent="0" algn="r">
              <a:buNone/>
            </a:pPr>
            <a:r>
              <a:rPr lang="en-US" sz="1130" dirty="0">
                <a:solidFill>
                  <a:schemeClr val="tx2"/>
                </a:solidFill>
                <a:latin typeface="JetBrains Mono" pitchFamily="34" charset="0"/>
                <a:ea typeface="JetBrains Mono" pitchFamily="34" charset="-122"/>
                <a:cs typeface="JetBrains Mono" pitchFamily="34" charset="-120"/>
              </a:rPr>
              <a:t>08 / 16</a:t>
            </a:r>
            <a:endParaRPr lang="en-US" sz="1130" dirty="0"/>
          </a:p>
        </p:txBody>
      </p:sp>
      <p:sp>
        <p:nvSpPr>
          <p:cNvPr id="4" name="Findings, not values"/>
          <p:cNvSpPr/>
          <p:nvPr/>
        </p:nvSpPr>
        <p:spPr>
          <a:xfrm>
            <a:off x="566928" y="1371600"/>
            <a:ext cx="2569464" cy="1463040"/>
          </a:xfrm>
          <a:prstGeom prst="rect">
            <a:avLst/>
          </a:prstGeom>
          <a:solidFill>
            <a:schemeClr val="bg2"/>
          </a:solidFill>
          <a:ln/>
        </p:spPr>
        <p:txBody>
          <a:bodyPr/>
          <a:lstStyle/>
          <a:p>
            <a:endParaRPr lang="en-US"/>
          </a:p>
        </p:txBody>
      </p:sp>
      <p:sp>
        <p:nvSpPr>
          <p:cNvPr id="5" name="Text 3"/>
          <p:cNvSpPr txBox="1"/>
          <p:nvPr/>
        </p:nvSpPr>
        <p:spPr>
          <a:xfrm>
            <a:off x="749808" y="1536192"/>
            <a:ext cx="2240280" cy="320040"/>
          </a:xfrm>
          <a:prstGeom prst="rect">
            <a:avLst/>
          </a:prstGeom>
          <a:noFill/>
          <a:ln/>
        </p:spPr>
        <p:txBody>
          <a:bodyPr wrap="square" lIns="0" tIns="0" rIns="0" bIns="0" rtlCol="0" anchor="t"/>
          <a:lstStyle/>
          <a:p>
            <a:pPr marL="0" indent="0">
              <a:buNone/>
            </a:pPr>
            <a:r>
              <a:rPr lang="en-US" sz="1500" b="1" dirty="0">
                <a:solidFill>
                  <a:srgbClr val="00B0F0"/>
                </a:solidFill>
              </a:rPr>
              <a:t>Findings, not values</a:t>
            </a:r>
            <a:endParaRPr lang="en-US" sz="1500" dirty="0"/>
          </a:p>
        </p:txBody>
      </p:sp>
      <p:sp>
        <p:nvSpPr>
          <p:cNvPr id="6" name="Text 4"/>
          <p:cNvSpPr txBox="1"/>
          <p:nvPr/>
        </p:nvSpPr>
        <p:spPr>
          <a:xfrm>
            <a:off x="749808" y="1920240"/>
            <a:ext cx="2240280" cy="822960"/>
          </a:xfrm>
          <a:prstGeom prst="rect">
            <a:avLst/>
          </a:prstGeom>
          <a:noFill/>
          <a:ln/>
        </p:spPr>
        <p:txBody>
          <a:bodyPr wrap="square" lIns="0" tIns="0" rIns="0" bIns="0" rtlCol="0" anchor="t"/>
          <a:lstStyle/>
          <a:p>
            <a:pPr marL="0" indent="0">
              <a:buNone/>
            </a:pPr>
            <a:r>
              <a:rPr lang="en-US" sz="1300" dirty="0">
                <a:solidFill>
                  <a:schemeClr val="tx1"/>
                </a:solidFill>
              </a:rPr>
              <a:t>DLP returns rule names and counts, never the matched text</a:t>
            </a:r>
            <a:endParaRPr lang="en-US" sz="1300" dirty="0"/>
          </a:p>
        </p:txBody>
      </p:sp>
      <p:sp>
        <p:nvSpPr>
          <p:cNvPr id="7" name="Bodies stay in memory"/>
          <p:cNvSpPr/>
          <p:nvPr/>
        </p:nvSpPr>
        <p:spPr>
          <a:xfrm>
            <a:off x="3282696" y="1371600"/>
            <a:ext cx="2569464" cy="1463040"/>
          </a:xfrm>
          <a:prstGeom prst="rect">
            <a:avLst/>
          </a:prstGeom>
          <a:solidFill>
            <a:schemeClr val="bg2"/>
          </a:solidFill>
          <a:ln/>
        </p:spPr>
        <p:txBody>
          <a:bodyPr/>
          <a:lstStyle/>
          <a:p>
            <a:endParaRPr lang="en-US"/>
          </a:p>
        </p:txBody>
      </p:sp>
      <p:sp>
        <p:nvSpPr>
          <p:cNvPr id="8" name="Text 6"/>
          <p:cNvSpPr txBox="1"/>
          <p:nvPr/>
        </p:nvSpPr>
        <p:spPr>
          <a:xfrm>
            <a:off x="3465576" y="1536192"/>
            <a:ext cx="2240280" cy="320040"/>
          </a:xfrm>
          <a:prstGeom prst="rect">
            <a:avLst/>
          </a:prstGeom>
          <a:noFill/>
          <a:ln/>
        </p:spPr>
        <p:txBody>
          <a:bodyPr wrap="square" lIns="0" tIns="0" rIns="0" bIns="0" rtlCol="0" anchor="t"/>
          <a:lstStyle/>
          <a:p>
            <a:pPr marL="0" indent="0">
              <a:buNone/>
            </a:pPr>
            <a:r>
              <a:rPr lang="en-US" sz="1500" b="1" dirty="0">
                <a:solidFill>
                  <a:srgbClr val="00B0F0"/>
                </a:solidFill>
              </a:rPr>
              <a:t>Bodies stay in memory</a:t>
            </a:r>
            <a:endParaRPr lang="en-US" sz="1500" dirty="0"/>
          </a:p>
        </p:txBody>
      </p:sp>
      <p:sp>
        <p:nvSpPr>
          <p:cNvPr id="9" name="Text 7"/>
          <p:cNvSpPr txBox="1"/>
          <p:nvPr/>
        </p:nvSpPr>
        <p:spPr>
          <a:xfrm>
            <a:off x="3465576" y="1920240"/>
            <a:ext cx="2240280" cy="822960"/>
          </a:xfrm>
          <a:prstGeom prst="rect">
            <a:avLst/>
          </a:prstGeom>
          <a:noFill/>
          <a:ln/>
        </p:spPr>
        <p:txBody>
          <a:bodyPr wrap="square" lIns="0" tIns="0" rIns="0" bIns="0" rtlCol="0" anchor="t"/>
          <a:lstStyle/>
          <a:p>
            <a:pPr marL="0" indent="0">
              <a:buNone/>
            </a:pPr>
            <a:r>
              <a:rPr lang="en-US" sz="1300" dirty="0">
                <a:solidFill>
                  <a:schemeClr val="tx1"/>
                </a:solidFill>
              </a:rPr>
              <a:t>A request is read to decide, never stored or logged</a:t>
            </a:r>
            <a:endParaRPr lang="en-US" sz="1300" dirty="0"/>
          </a:p>
        </p:txBody>
      </p:sp>
      <p:sp>
        <p:nvSpPr>
          <p:cNvPr id="10" name="Integers from responses"/>
          <p:cNvSpPr/>
          <p:nvPr/>
        </p:nvSpPr>
        <p:spPr>
          <a:xfrm>
            <a:off x="5998464" y="1371600"/>
            <a:ext cx="2569464" cy="1463040"/>
          </a:xfrm>
          <a:prstGeom prst="rect">
            <a:avLst/>
          </a:prstGeom>
          <a:solidFill>
            <a:schemeClr val="bg2"/>
          </a:solidFill>
          <a:ln/>
        </p:spPr>
        <p:txBody>
          <a:bodyPr/>
          <a:lstStyle/>
          <a:p>
            <a:endParaRPr lang="en-US"/>
          </a:p>
        </p:txBody>
      </p:sp>
      <p:sp>
        <p:nvSpPr>
          <p:cNvPr id="11" name="Text 9"/>
          <p:cNvSpPr txBox="1"/>
          <p:nvPr/>
        </p:nvSpPr>
        <p:spPr>
          <a:xfrm>
            <a:off x="6181344" y="1536192"/>
            <a:ext cx="2240280" cy="320040"/>
          </a:xfrm>
          <a:prstGeom prst="rect">
            <a:avLst/>
          </a:prstGeom>
          <a:noFill/>
          <a:ln/>
        </p:spPr>
        <p:txBody>
          <a:bodyPr wrap="square" lIns="0" tIns="0" rIns="0" bIns="0" rtlCol="0" anchor="t"/>
          <a:lstStyle/>
          <a:p>
            <a:pPr marL="0" indent="0">
              <a:buNone/>
            </a:pPr>
            <a:r>
              <a:rPr lang="en-US" sz="1500" b="1" dirty="0">
                <a:solidFill>
                  <a:srgbClr val="00B0F0"/>
                </a:solidFill>
              </a:rPr>
              <a:t>Integers from responses</a:t>
            </a:r>
            <a:endParaRPr lang="en-US" sz="1500" dirty="0"/>
          </a:p>
        </p:txBody>
      </p:sp>
      <p:sp>
        <p:nvSpPr>
          <p:cNvPr id="12" name="Text 10"/>
          <p:cNvSpPr txBox="1"/>
          <p:nvPr/>
        </p:nvSpPr>
        <p:spPr>
          <a:xfrm>
            <a:off x="6181344" y="1920240"/>
            <a:ext cx="2240280" cy="822960"/>
          </a:xfrm>
          <a:prstGeom prst="rect">
            <a:avLst/>
          </a:prstGeom>
          <a:noFill/>
          <a:ln/>
        </p:spPr>
        <p:txBody>
          <a:bodyPr wrap="square" lIns="0" tIns="0" rIns="0" bIns="0" rtlCol="0" anchor="t"/>
          <a:lstStyle/>
          <a:p>
            <a:pPr marL="0" indent="0">
              <a:buNone/>
            </a:pPr>
            <a:r>
              <a:rPr lang="en-US" sz="1300" dirty="0">
                <a:solidFill>
                  <a:schemeClr val="tx1"/>
                </a:solidFill>
              </a:rPr>
              <a:t>Only token-usage counts are read back</a:t>
            </a:r>
            <a:endParaRPr lang="en-US" sz="1300" dirty="0"/>
          </a:p>
        </p:txBody>
      </p:sp>
      <p:sp>
        <p:nvSpPr>
          <p:cNvPr id="13" name="Keys pass through"/>
          <p:cNvSpPr/>
          <p:nvPr/>
        </p:nvSpPr>
        <p:spPr>
          <a:xfrm>
            <a:off x="566928" y="2999232"/>
            <a:ext cx="2569464" cy="1463040"/>
          </a:xfrm>
          <a:prstGeom prst="rect">
            <a:avLst/>
          </a:prstGeom>
          <a:solidFill>
            <a:schemeClr val="bg2"/>
          </a:solidFill>
          <a:ln/>
        </p:spPr>
        <p:txBody>
          <a:bodyPr/>
          <a:lstStyle/>
          <a:p>
            <a:endParaRPr lang="en-US"/>
          </a:p>
        </p:txBody>
      </p:sp>
      <p:sp>
        <p:nvSpPr>
          <p:cNvPr id="14" name="Text 12"/>
          <p:cNvSpPr txBox="1"/>
          <p:nvPr/>
        </p:nvSpPr>
        <p:spPr>
          <a:xfrm>
            <a:off x="749808" y="3163824"/>
            <a:ext cx="2240280" cy="320040"/>
          </a:xfrm>
          <a:prstGeom prst="rect">
            <a:avLst/>
          </a:prstGeom>
          <a:noFill/>
          <a:ln/>
        </p:spPr>
        <p:txBody>
          <a:bodyPr wrap="square" lIns="0" tIns="0" rIns="0" bIns="0" rtlCol="0" anchor="t"/>
          <a:lstStyle/>
          <a:p>
            <a:pPr marL="0" indent="0">
              <a:buNone/>
            </a:pPr>
            <a:r>
              <a:rPr lang="en-US" sz="1500" b="1" dirty="0">
                <a:solidFill>
                  <a:srgbClr val="00B0F0"/>
                </a:solidFill>
              </a:rPr>
              <a:t>Keys pass through</a:t>
            </a:r>
            <a:endParaRPr lang="en-US" sz="1500" dirty="0"/>
          </a:p>
        </p:txBody>
      </p:sp>
      <p:sp>
        <p:nvSpPr>
          <p:cNvPr id="15" name="Text 13"/>
          <p:cNvSpPr txBox="1"/>
          <p:nvPr/>
        </p:nvSpPr>
        <p:spPr>
          <a:xfrm>
            <a:off x="749808" y="3547872"/>
            <a:ext cx="2240280" cy="822960"/>
          </a:xfrm>
          <a:prstGeom prst="rect">
            <a:avLst/>
          </a:prstGeom>
          <a:noFill/>
          <a:ln/>
        </p:spPr>
        <p:txBody>
          <a:bodyPr wrap="square" lIns="0" tIns="0" rIns="0" bIns="0" rtlCol="0" anchor="t"/>
          <a:lstStyle/>
          <a:p>
            <a:pPr marL="0" indent="0">
              <a:buNone/>
            </a:pPr>
            <a:r>
              <a:rPr lang="en-US" sz="1300" dirty="0">
                <a:solidFill>
                  <a:schemeClr val="tx1"/>
                </a:solidFill>
              </a:rPr>
              <a:t>Authorization headers reach the upstream, never the log</a:t>
            </a:r>
            <a:endParaRPr lang="en-US" sz="1300" dirty="0"/>
          </a:p>
        </p:txBody>
      </p:sp>
      <p:sp>
        <p:nvSpPr>
          <p:cNvPr id="16" name="Loopback only"/>
          <p:cNvSpPr/>
          <p:nvPr/>
        </p:nvSpPr>
        <p:spPr>
          <a:xfrm>
            <a:off x="3282696" y="2999232"/>
            <a:ext cx="2569464" cy="1463040"/>
          </a:xfrm>
          <a:prstGeom prst="rect">
            <a:avLst/>
          </a:prstGeom>
          <a:solidFill>
            <a:schemeClr val="bg2"/>
          </a:solidFill>
          <a:ln/>
        </p:spPr>
        <p:txBody>
          <a:bodyPr/>
          <a:lstStyle/>
          <a:p>
            <a:endParaRPr lang="en-US"/>
          </a:p>
        </p:txBody>
      </p:sp>
      <p:sp>
        <p:nvSpPr>
          <p:cNvPr id="17" name="Text 15"/>
          <p:cNvSpPr txBox="1"/>
          <p:nvPr/>
        </p:nvSpPr>
        <p:spPr>
          <a:xfrm>
            <a:off x="3465576" y="3163824"/>
            <a:ext cx="2240280" cy="320040"/>
          </a:xfrm>
          <a:prstGeom prst="rect">
            <a:avLst/>
          </a:prstGeom>
          <a:noFill/>
          <a:ln/>
        </p:spPr>
        <p:txBody>
          <a:bodyPr wrap="square" lIns="0" tIns="0" rIns="0" bIns="0" rtlCol="0" anchor="t"/>
          <a:lstStyle/>
          <a:p>
            <a:pPr marL="0" indent="0">
              <a:buNone/>
            </a:pPr>
            <a:r>
              <a:rPr lang="en-US" sz="1500" b="1" dirty="0">
                <a:solidFill>
                  <a:srgbClr val="00B0F0"/>
                </a:solidFill>
              </a:rPr>
              <a:t>Loopback only</a:t>
            </a:r>
            <a:endParaRPr lang="en-US" sz="1500" dirty="0"/>
          </a:p>
        </p:txBody>
      </p:sp>
      <p:sp>
        <p:nvSpPr>
          <p:cNvPr id="18" name="Text 16"/>
          <p:cNvSpPr txBox="1"/>
          <p:nvPr/>
        </p:nvSpPr>
        <p:spPr>
          <a:xfrm>
            <a:off x="3465576" y="3547872"/>
            <a:ext cx="2240280" cy="822960"/>
          </a:xfrm>
          <a:prstGeom prst="rect">
            <a:avLst/>
          </a:prstGeom>
          <a:noFill/>
          <a:ln/>
        </p:spPr>
        <p:txBody>
          <a:bodyPr wrap="square" lIns="0" tIns="0" rIns="0" bIns="0" rtlCol="0" anchor="t"/>
          <a:lstStyle/>
          <a:p>
            <a:pPr marL="0" indent="0">
              <a:buNone/>
            </a:pPr>
            <a:r>
              <a:rPr lang="en-US" sz="1300" dirty="0">
                <a:solidFill>
                  <a:schemeClr val="tx1"/>
                </a:solidFill>
              </a:rPr>
              <a:t>Proxy, scan endpoint and dashboard refuse other addresses</a:t>
            </a:r>
            <a:endParaRPr lang="en-US" sz="1300" dirty="0"/>
          </a:p>
        </p:txBody>
      </p:sp>
      <p:sp>
        <p:nvSpPr>
          <p:cNvPr id="19" name="Owner-only files"/>
          <p:cNvSpPr/>
          <p:nvPr/>
        </p:nvSpPr>
        <p:spPr>
          <a:xfrm>
            <a:off x="5998464" y="2999232"/>
            <a:ext cx="2569464" cy="1463040"/>
          </a:xfrm>
          <a:prstGeom prst="rect">
            <a:avLst/>
          </a:prstGeom>
          <a:solidFill>
            <a:schemeClr val="bg2"/>
          </a:solidFill>
          <a:ln/>
        </p:spPr>
        <p:txBody>
          <a:bodyPr/>
          <a:lstStyle/>
          <a:p>
            <a:endParaRPr lang="en-US"/>
          </a:p>
        </p:txBody>
      </p:sp>
      <p:sp>
        <p:nvSpPr>
          <p:cNvPr id="20" name="Text 18"/>
          <p:cNvSpPr txBox="1"/>
          <p:nvPr/>
        </p:nvSpPr>
        <p:spPr>
          <a:xfrm>
            <a:off x="6181344" y="3163824"/>
            <a:ext cx="2240280" cy="320040"/>
          </a:xfrm>
          <a:prstGeom prst="rect">
            <a:avLst/>
          </a:prstGeom>
          <a:noFill/>
          <a:ln/>
        </p:spPr>
        <p:txBody>
          <a:bodyPr wrap="square" lIns="0" tIns="0" rIns="0" bIns="0" rtlCol="0" anchor="t"/>
          <a:lstStyle/>
          <a:p>
            <a:pPr marL="0" indent="0">
              <a:buNone/>
            </a:pPr>
            <a:r>
              <a:rPr lang="en-US" sz="1500" b="1" dirty="0">
                <a:solidFill>
                  <a:srgbClr val="00B0F0"/>
                </a:solidFill>
              </a:rPr>
              <a:t>Owner-only files</a:t>
            </a:r>
            <a:endParaRPr lang="en-US" sz="1500" dirty="0"/>
          </a:p>
        </p:txBody>
      </p:sp>
      <p:sp>
        <p:nvSpPr>
          <p:cNvPr id="21" name="Text 19"/>
          <p:cNvSpPr txBox="1"/>
          <p:nvPr/>
        </p:nvSpPr>
        <p:spPr>
          <a:xfrm>
            <a:off x="6181344" y="3547872"/>
            <a:ext cx="2240280" cy="822960"/>
          </a:xfrm>
          <a:prstGeom prst="rect">
            <a:avLst/>
          </a:prstGeom>
          <a:noFill/>
          <a:ln/>
        </p:spPr>
        <p:txBody>
          <a:bodyPr wrap="square" lIns="0" tIns="0" rIns="0" bIns="0" rtlCol="0" anchor="t"/>
          <a:lstStyle/>
          <a:p>
            <a:pPr marL="0" indent="0">
              <a:buNone/>
            </a:pPr>
            <a:r>
              <a:rPr lang="en-US" sz="1300" dirty="0">
                <a:solidFill>
                  <a:schemeClr val="tx1"/>
                </a:solidFill>
              </a:rPr>
              <a:t>Logs and database are 0600; symlinks refused</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566928" y="566928"/>
            <a:ext cx="8001000" cy="512064"/>
          </a:xfrm>
          <a:prstGeom prst="rect">
            <a:avLst/>
          </a:prstGeom>
          <a:noFill/>
          <a:ln/>
        </p:spPr>
        <p:txBody>
          <a:bodyPr wrap="square" lIns="0" tIns="0" rIns="0" bIns="0" rtlCol="0" anchor="ctr"/>
          <a:lstStyle/>
          <a:p>
            <a:pPr marL="0" indent="0">
              <a:buNone/>
            </a:pPr>
            <a:r>
              <a:rPr lang="en-US" sz="2850" b="1" dirty="0">
                <a:solidFill>
                  <a:schemeClr val="tx1"/>
                </a:solidFill>
              </a:rPr>
              <a:t>Coverage, honestly</a:t>
            </a:r>
            <a:endParaRPr lang="en-US" sz="2850" dirty="0"/>
          </a:p>
        </p:txBody>
      </p:sp>
      <p:sp>
        <p:nvSpPr>
          <p:cNvPr id="3" name="Text 1"/>
          <p:cNvSpPr txBox="1"/>
          <p:nvPr/>
        </p:nvSpPr>
        <p:spPr>
          <a:xfrm>
            <a:off x="7653528" y="4864608"/>
            <a:ext cx="914400" cy="219456"/>
          </a:xfrm>
          <a:prstGeom prst="rect">
            <a:avLst/>
          </a:prstGeom>
          <a:noFill/>
          <a:ln/>
        </p:spPr>
        <p:txBody>
          <a:bodyPr wrap="square" lIns="0" tIns="0" rIns="0" bIns="0" rtlCol="0" anchor="ctr"/>
          <a:lstStyle/>
          <a:p>
            <a:pPr marL="0" indent="0" algn="r">
              <a:buNone/>
            </a:pPr>
            <a:r>
              <a:rPr lang="en-US" sz="1130" dirty="0">
                <a:solidFill>
                  <a:schemeClr val="tx2"/>
                </a:solidFill>
                <a:latin typeface="JetBrains Mono" pitchFamily="34" charset="0"/>
                <a:ea typeface="JetBrains Mono" pitchFamily="34" charset="-122"/>
                <a:cs typeface="JetBrains Mono" pitchFamily="34" charset="-120"/>
              </a:rPr>
              <a:t>09 / 16</a:t>
            </a:r>
            <a:endParaRPr lang="en-US" sz="113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1325880"/>
          <a:ext cx="8001000" cy="2560320"/>
        </p:xfrm>
        <a:graphic>
          <a:graphicData uri="http://schemas.openxmlformats.org/drawingml/2006/table">
            <a:tbl>
              <a:tblPr/>
              <a:tblGrid>
                <a:gridCol w="182880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2834640">
                  <a:extLst>
                    <a:ext uri="{9D8B030D-6E8A-4147-A177-3AD203B41FA5}">
                      <a16:colId xmlns:a16="http://schemas.microsoft.com/office/drawing/2014/main" val="20003"/>
                    </a:ext>
                  </a:extLst>
                </a:gridCol>
              </a:tblGrid>
              <a:tr h="365760">
                <a:tc>
                  <a:txBody>
                    <a:bodyPr/>
                    <a:lstStyle/>
                    <a:p>
                      <a:pPr marL="0" indent="0">
                        <a:buNone/>
                      </a:pPr>
                      <a:r>
                        <a:rPr lang="en-US" sz="1100" b="1" dirty="0">
                          <a:solidFill>
                            <a:schemeClr val="tx2"/>
                          </a:solidFill>
                          <a:latin typeface="IBM Plex Sans" pitchFamily="34" charset="0"/>
                          <a:ea typeface="IBM Plex Sans" pitchFamily="34" charset="-122"/>
                          <a:cs typeface="IBM Plex Sans" pitchFamily="34" charset="-120"/>
                        </a:rPr>
                        <a:t>Channel</a:t>
                      </a:r>
                      <a:endParaRPr lang="en-US" sz="1100" dirty="0">
                        <a:latin typeface="IBM Plex Sans" charset="0"/>
                        <a:ea typeface="IBM Plex Sans" charset="0"/>
                        <a:cs typeface="IBM Plex Sans" charset="0"/>
                      </a:endParaRPr>
                    </a:p>
                  </a:txBody>
                  <a:tcPr marL="73152" marR="73152"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chemeClr val="bg2"/>
                    </a:solidFill>
                  </a:tcPr>
                </a:tc>
                <a:tc>
                  <a:txBody>
                    <a:bodyPr/>
                    <a:lstStyle/>
                    <a:p>
                      <a:pPr marL="0" indent="0">
                        <a:buNone/>
                      </a:pPr>
                      <a:r>
                        <a:rPr lang="en-US" sz="1100" b="1" dirty="0">
                          <a:solidFill>
                            <a:schemeClr val="tx2"/>
                          </a:solidFill>
                          <a:latin typeface="IBM Plex Sans" pitchFamily="34" charset="0"/>
                          <a:ea typeface="IBM Plex Sans" pitchFamily="34" charset="-122"/>
                          <a:cs typeface="IBM Plex Sans" pitchFamily="34" charset="-120"/>
                        </a:rPr>
                        <a:t>How it connects</a:t>
                      </a:r>
                      <a:endParaRPr lang="en-US" sz="1100" dirty="0">
                        <a:latin typeface="IBM Plex Sans" charset="0"/>
                        <a:ea typeface="IBM Plex Sans" charset="0"/>
                        <a:cs typeface="IBM Plex Sans" charset="0"/>
                      </a:endParaRPr>
                    </a:p>
                  </a:txBody>
                  <a:tcPr marL="73152" marR="73152"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chemeClr val="bg2"/>
                    </a:solidFill>
                  </a:tcPr>
                </a:tc>
                <a:tc>
                  <a:txBody>
                    <a:bodyPr/>
                    <a:lstStyle/>
                    <a:p>
                      <a:pPr marL="0" indent="0">
                        <a:buNone/>
                      </a:pPr>
                      <a:r>
                        <a:rPr lang="en-US" sz="1100" b="1" dirty="0">
                          <a:solidFill>
                            <a:schemeClr val="tx2"/>
                          </a:solidFill>
                          <a:latin typeface="IBM Plex Sans" pitchFamily="34" charset="0"/>
                          <a:ea typeface="IBM Plex Sans" pitchFamily="34" charset="-122"/>
                          <a:cs typeface="IBM Plex Sans" pitchFamily="34" charset="-120"/>
                        </a:rPr>
                        <a:t>Can block</a:t>
                      </a:r>
                      <a:endParaRPr lang="en-US" sz="1100" dirty="0">
                        <a:latin typeface="IBM Plex Sans" charset="0"/>
                        <a:ea typeface="IBM Plex Sans" charset="0"/>
                        <a:cs typeface="IBM Plex Sans" charset="0"/>
                      </a:endParaRPr>
                    </a:p>
                  </a:txBody>
                  <a:tcPr marL="73152" marR="73152"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chemeClr val="bg2"/>
                    </a:solidFill>
                  </a:tcPr>
                </a:tc>
                <a:tc>
                  <a:txBody>
                    <a:bodyPr/>
                    <a:lstStyle/>
                    <a:p>
                      <a:pPr marL="0" indent="0">
                        <a:buNone/>
                      </a:pPr>
                      <a:r>
                        <a:rPr lang="en-US" sz="1100" b="1" dirty="0">
                          <a:solidFill>
                            <a:schemeClr val="tx2"/>
                          </a:solidFill>
                          <a:latin typeface="IBM Plex Sans" pitchFamily="34" charset="0"/>
                          <a:ea typeface="IBM Plex Sans" pitchFamily="34" charset="-122"/>
                          <a:cs typeface="IBM Plex Sans" pitchFamily="34" charset="-120"/>
                        </a:rPr>
                        <a:t>Limits</a:t>
                      </a:r>
                      <a:endParaRPr lang="en-US" sz="1100" dirty="0">
                        <a:latin typeface="IBM Plex Sans" charset="0"/>
                        <a:ea typeface="IBM Plex Sans" charset="0"/>
                        <a:cs typeface="IBM Plex Sans" charset="0"/>
                      </a:endParaRPr>
                    </a:p>
                  </a:txBody>
                  <a:tcPr marL="73152" marR="73152"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365760">
                <a:tc>
                  <a:txBody>
                    <a:bodyPr/>
                    <a:lstStyle/>
                    <a:p>
                      <a:pPr marL="0" indent="0">
                        <a:buNone/>
                      </a:pPr>
                      <a:r>
                        <a:rPr lang="en-US" sz="1100" dirty="0">
                          <a:solidFill>
                            <a:schemeClr val="tx1"/>
                          </a:solidFill>
                          <a:latin typeface="IBM Plex Sans" pitchFamily="34" charset="0"/>
                          <a:ea typeface="IBM Plex Sans" pitchFamily="34" charset="-122"/>
                          <a:cs typeface="IBM Plex Sans" pitchFamily="34" charset="-120"/>
                        </a:rPr>
                        <a:t>CLI and SDK agents</a:t>
                      </a:r>
                      <a:endParaRPr lang="en-US" sz="1100" dirty="0">
                        <a:latin typeface="IBM Plex Sans" charset="0"/>
                        <a:ea typeface="IBM Plex Sans" charset="0"/>
                        <a:cs typeface="IBM Plex Sans" charset="0"/>
                      </a:endParaRPr>
                    </a:p>
                  </a:txBody>
                  <a:tcPr marL="73152" marR="73152"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tcPr>
                </a:tc>
                <a:tc>
                  <a:txBody>
                    <a:bodyPr/>
                    <a:lstStyle/>
                    <a:p>
                      <a:pPr marL="0" indent="0">
                        <a:buNone/>
                      </a:pPr>
                      <a:r>
                        <a:rPr lang="en-US" sz="1100" dirty="0">
                          <a:solidFill>
                            <a:schemeClr val="tx1"/>
                          </a:solidFill>
                          <a:latin typeface="IBM Plex Sans" pitchFamily="34" charset="0"/>
                          <a:ea typeface="IBM Plex Sans" pitchFamily="34" charset="-122"/>
                          <a:cs typeface="IBM Plex Sans" pitchFamily="34" charset="-120"/>
                        </a:rPr>
                        <a:t>Base-URL override to the proxy</a:t>
                      </a:r>
                      <a:endParaRPr lang="en-US" sz="1100" dirty="0">
                        <a:latin typeface="IBM Plex Sans" charset="0"/>
                        <a:ea typeface="IBM Plex Sans" charset="0"/>
                        <a:cs typeface="IBM Plex Sans" charset="0"/>
                      </a:endParaRPr>
                    </a:p>
                  </a:txBody>
                  <a:tcPr marL="73152" marR="73152"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tcPr>
                </a:tc>
                <a:tc>
                  <a:txBody>
                    <a:bodyPr/>
                    <a:lstStyle/>
                    <a:p>
                      <a:pPr marL="0" indent="0">
                        <a:buNone/>
                      </a:pPr>
                      <a:r>
                        <a:rPr lang="en-US" sz="1100" b="1" dirty="0">
                          <a:solidFill>
                            <a:srgbClr val="29BC86"/>
                          </a:solidFill>
                          <a:latin typeface="IBM Plex Sans" pitchFamily="34" charset="0"/>
                          <a:ea typeface="IBM Plex Sans" pitchFamily="34" charset="-122"/>
                          <a:cs typeface="IBM Plex Sans" pitchFamily="34" charset="-120"/>
                        </a:rPr>
                        <a:t>Yes</a:t>
                      </a:r>
                      <a:endParaRPr lang="en-US" sz="1100" dirty="0">
                        <a:latin typeface="IBM Plex Sans" charset="0"/>
                        <a:ea typeface="IBM Plex Sans" charset="0"/>
                        <a:cs typeface="IBM Plex Sans" charset="0"/>
                      </a:endParaRPr>
                    </a:p>
                  </a:txBody>
                  <a:tcPr marL="73152" marR="73152"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tcPr>
                </a:tc>
                <a:tc>
                  <a:txBody>
                    <a:bodyPr/>
                    <a:lstStyle/>
                    <a:p>
                      <a:pPr marL="0" indent="0">
                        <a:buNone/>
                      </a:pPr>
                      <a:r>
                        <a:rPr lang="en-US" sz="1100" dirty="0">
                          <a:solidFill>
                            <a:schemeClr val="tx1"/>
                          </a:solidFill>
                          <a:latin typeface="IBM Plex Sans" pitchFamily="34" charset="0"/>
                          <a:ea typeface="IBM Plex Sans" pitchFamily="34" charset="-122"/>
                          <a:cs typeface="IBM Plex Sans" pitchFamily="34" charset="-120"/>
                        </a:rPr>
                        <a:t>Only tools that honor a base URL</a:t>
                      </a:r>
                      <a:endParaRPr lang="en-US" sz="1100" dirty="0">
                        <a:latin typeface="IBM Plex Sans" charset="0"/>
                        <a:ea typeface="IBM Plex Sans" charset="0"/>
                        <a:cs typeface="IBM Plex Sans" charset="0"/>
                      </a:endParaRPr>
                    </a:p>
                  </a:txBody>
                  <a:tcPr marL="73152" marR="73152"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100" dirty="0">
                          <a:solidFill>
                            <a:schemeClr val="tx1"/>
                          </a:solidFill>
                          <a:latin typeface="IBM Plex Sans" pitchFamily="34" charset="0"/>
                          <a:ea typeface="IBM Plex Sans" pitchFamily="34" charset="-122"/>
                          <a:cs typeface="IBM Plex Sans" pitchFamily="34" charset="-120"/>
                        </a:rPr>
                        <a:t>Claude Code, Antigravity</a:t>
                      </a:r>
                      <a:endParaRPr lang="en-US" sz="1100" dirty="0">
                        <a:latin typeface="IBM Plex Sans" charset="0"/>
                        <a:ea typeface="IBM Plex Sans" charset="0"/>
                        <a:cs typeface="IBM Plex Sans" charset="0"/>
                      </a:endParaRPr>
                    </a:p>
                  </a:txBody>
                  <a:tcPr marL="73152" marR="73152"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tcPr>
                </a:tc>
                <a:tc>
                  <a:txBody>
                    <a:bodyPr/>
                    <a:lstStyle/>
                    <a:p>
                      <a:pPr marL="0" indent="0">
                        <a:buNone/>
                      </a:pPr>
                      <a:r>
                        <a:rPr lang="en-US" sz="1100" dirty="0">
                          <a:solidFill>
                            <a:schemeClr val="tx1"/>
                          </a:solidFill>
                          <a:latin typeface="IBM Plex Sans" pitchFamily="34" charset="0"/>
                          <a:ea typeface="IBM Plex Sans" pitchFamily="34" charset="-122"/>
                          <a:cs typeface="IBM Plex Sans" pitchFamily="34" charset="-120"/>
                        </a:rPr>
                        <a:t>Native lifecycle hooks</a:t>
                      </a:r>
                      <a:endParaRPr lang="en-US" sz="1100" dirty="0">
                        <a:latin typeface="IBM Plex Sans" charset="0"/>
                        <a:ea typeface="IBM Plex Sans" charset="0"/>
                        <a:cs typeface="IBM Plex Sans" charset="0"/>
                      </a:endParaRPr>
                    </a:p>
                  </a:txBody>
                  <a:tcPr marL="73152" marR="73152"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tcPr>
                </a:tc>
                <a:tc>
                  <a:txBody>
                    <a:bodyPr/>
                    <a:lstStyle/>
                    <a:p>
                      <a:pPr marL="0" indent="0">
                        <a:buNone/>
                      </a:pPr>
                      <a:r>
                        <a:rPr lang="en-US" sz="1100" b="1" dirty="0">
                          <a:solidFill>
                            <a:srgbClr val="5CC8FF"/>
                          </a:solidFill>
                          <a:latin typeface="IBM Plex Sans" pitchFamily="34" charset="0"/>
                          <a:ea typeface="IBM Plex Sans" pitchFamily="34" charset="-122"/>
                          <a:cs typeface="IBM Plex Sans" pitchFamily="34" charset="-120"/>
                        </a:rPr>
                        <a:t>Metrics</a:t>
                      </a:r>
                      <a:endParaRPr lang="en-US" sz="1100" dirty="0">
                        <a:latin typeface="IBM Plex Sans" charset="0"/>
                        <a:ea typeface="IBM Plex Sans" charset="0"/>
                        <a:cs typeface="IBM Plex Sans" charset="0"/>
                      </a:endParaRPr>
                    </a:p>
                  </a:txBody>
                  <a:tcPr marL="73152" marR="73152"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tcPr>
                </a:tc>
                <a:tc>
                  <a:txBody>
                    <a:bodyPr/>
                    <a:lstStyle/>
                    <a:p>
                      <a:pPr marL="0" indent="0">
                        <a:buNone/>
                      </a:pPr>
                      <a:r>
                        <a:rPr lang="en-US" sz="1100" dirty="0">
                          <a:solidFill>
                            <a:schemeClr val="tx1"/>
                          </a:solidFill>
                          <a:latin typeface="IBM Plex Sans" pitchFamily="34" charset="0"/>
                          <a:ea typeface="IBM Plex Sans" pitchFamily="34" charset="-122"/>
                          <a:cs typeface="IBM Plex Sans" pitchFamily="34" charset="-120"/>
                        </a:rPr>
                        <a:t>Blocking in hooks is next</a:t>
                      </a:r>
                      <a:endParaRPr lang="en-US" sz="1100" dirty="0">
                        <a:latin typeface="IBM Plex Sans" charset="0"/>
                        <a:ea typeface="IBM Plex Sans" charset="0"/>
                        <a:cs typeface="IBM Plex Sans" charset="0"/>
                      </a:endParaRPr>
                    </a:p>
                  </a:txBody>
                  <a:tcPr marL="73152" marR="73152"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buNone/>
                      </a:pPr>
                      <a:r>
                        <a:rPr lang="en-US" sz="1100" dirty="0">
                          <a:solidFill>
                            <a:schemeClr val="tx1"/>
                          </a:solidFill>
                          <a:latin typeface="IBM Plex Sans" pitchFamily="34" charset="0"/>
                          <a:ea typeface="IBM Plex Sans" pitchFamily="34" charset="-122"/>
                          <a:cs typeface="IBM Plex Sans" pitchFamily="34" charset="-120"/>
                        </a:rPr>
                        <a:t>Clipboard</a:t>
                      </a:r>
                      <a:endParaRPr lang="en-US" sz="1100" dirty="0">
                        <a:latin typeface="IBM Plex Sans" charset="0"/>
                        <a:ea typeface="IBM Plex Sans" charset="0"/>
                        <a:cs typeface="IBM Plex Sans" charset="0"/>
                      </a:endParaRPr>
                    </a:p>
                  </a:txBody>
                  <a:tcPr marL="73152" marR="73152"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tcPr>
                </a:tc>
                <a:tc>
                  <a:txBody>
                    <a:bodyPr/>
                    <a:lstStyle/>
                    <a:p>
                      <a:pPr marL="0" indent="0">
                        <a:buNone/>
                      </a:pPr>
                      <a:r>
                        <a:rPr lang="en-US" sz="1100" dirty="0">
                          <a:solidFill>
                            <a:schemeClr val="tx1"/>
                          </a:solidFill>
                          <a:latin typeface="IBM Plex Sans" pitchFamily="34" charset="0"/>
                          <a:ea typeface="IBM Plex Sans" pitchFamily="34" charset="-122"/>
                          <a:cs typeface="IBM Plex Sans" pitchFamily="34" charset="-120"/>
                        </a:rPr>
                        <a:t>Polling plus optional guard</a:t>
                      </a:r>
                      <a:endParaRPr lang="en-US" sz="1100" dirty="0">
                        <a:latin typeface="IBM Plex Sans" charset="0"/>
                        <a:ea typeface="IBM Plex Sans" charset="0"/>
                        <a:cs typeface="IBM Plex Sans" charset="0"/>
                      </a:endParaRPr>
                    </a:p>
                  </a:txBody>
                  <a:tcPr marL="73152" marR="73152"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tcPr>
                </a:tc>
                <a:tc>
                  <a:txBody>
                    <a:bodyPr/>
                    <a:lstStyle/>
                    <a:p>
                      <a:pPr marL="0" indent="0">
                        <a:buNone/>
                      </a:pPr>
                      <a:r>
                        <a:rPr lang="en-US" sz="1100" b="1" dirty="0">
                          <a:solidFill>
                            <a:srgbClr val="F5B83D"/>
                          </a:solidFill>
                          <a:latin typeface="IBM Plex Sans" pitchFamily="34" charset="0"/>
                          <a:ea typeface="IBM Plex Sans" pitchFamily="34" charset="-122"/>
                          <a:cs typeface="IBM Plex Sans" pitchFamily="34" charset="-120"/>
                        </a:rPr>
                        <a:t>Partly</a:t>
                      </a:r>
                      <a:endParaRPr lang="en-US" sz="1100" dirty="0">
                        <a:latin typeface="IBM Plex Sans" charset="0"/>
                        <a:ea typeface="IBM Plex Sans" charset="0"/>
                        <a:cs typeface="IBM Plex Sans" charset="0"/>
                      </a:endParaRPr>
                    </a:p>
                  </a:txBody>
                  <a:tcPr marL="73152" marR="73152"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tcPr>
                </a:tc>
                <a:tc>
                  <a:txBody>
                    <a:bodyPr/>
                    <a:lstStyle/>
                    <a:p>
                      <a:pPr marL="0" indent="0">
                        <a:buNone/>
                      </a:pPr>
                      <a:r>
                        <a:rPr lang="en-US" sz="1100" dirty="0">
                          <a:solidFill>
                            <a:schemeClr val="tx1"/>
                          </a:solidFill>
                          <a:latin typeface="IBM Plex Sans" pitchFamily="34" charset="0"/>
                          <a:ea typeface="IBM Plex Sans" pitchFamily="34" charset="-122"/>
                          <a:cs typeface="IBM Plex Sans" pitchFamily="34" charset="-120"/>
                        </a:rPr>
                        <a:t>Race between polls; typed text unseen</a:t>
                      </a:r>
                      <a:endParaRPr lang="en-US" sz="1100" dirty="0">
                        <a:latin typeface="IBM Plex Sans" charset="0"/>
                        <a:ea typeface="IBM Plex Sans" charset="0"/>
                        <a:cs typeface="IBM Plex Sans" charset="0"/>
                      </a:endParaRPr>
                    </a:p>
                  </a:txBody>
                  <a:tcPr marL="73152" marR="73152"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buNone/>
                      </a:pPr>
                      <a:r>
                        <a:rPr lang="en-US" sz="1100" dirty="0">
                          <a:solidFill>
                            <a:schemeClr val="tx1"/>
                          </a:solidFill>
                          <a:latin typeface="IBM Plex Sans" pitchFamily="34" charset="0"/>
                          <a:ea typeface="IBM Plex Sans" pitchFamily="34" charset="-122"/>
                          <a:cs typeface="IBM Plex Sans" pitchFamily="34" charset="-120"/>
                        </a:rPr>
                        <a:t>Browser chats</a:t>
                      </a:r>
                      <a:endParaRPr lang="en-US" sz="1100" dirty="0">
                        <a:latin typeface="IBM Plex Sans" charset="0"/>
                        <a:ea typeface="IBM Plex Sans" charset="0"/>
                        <a:cs typeface="IBM Plex Sans" charset="0"/>
                      </a:endParaRPr>
                    </a:p>
                  </a:txBody>
                  <a:tcPr marL="73152" marR="73152"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tcPr>
                </a:tc>
                <a:tc>
                  <a:txBody>
                    <a:bodyPr/>
                    <a:lstStyle/>
                    <a:p>
                      <a:pPr marL="0" indent="0">
                        <a:buNone/>
                      </a:pPr>
                      <a:r>
                        <a:rPr lang="en-US" sz="1100" dirty="0">
                          <a:solidFill>
                            <a:schemeClr val="tx1"/>
                          </a:solidFill>
                          <a:latin typeface="IBM Plex Sans" pitchFamily="34" charset="0"/>
                          <a:ea typeface="IBM Plex Sans" pitchFamily="34" charset="-122"/>
                          <a:cs typeface="IBM Plex Sans" pitchFamily="34" charset="-120"/>
                        </a:rPr>
                        <a:t>AI site detected, host only</a:t>
                      </a:r>
                      <a:endParaRPr lang="en-US" sz="1100" dirty="0">
                        <a:latin typeface="IBM Plex Sans" charset="0"/>
                        <a:ea typeface="IBM Plex Sans" charset="0"/>
                        <a:cs typeface="IBM Plex Sans" charset="0"/>
                      </a:endParaRPr>
                    </a:p>
                  </a:txBody>
                  <a:tcPr marL="73152" marR="73152"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tcPr>
                </a:tc>
                <a:tc>
                  <a:txBody>
                    <a:bodyPr/>
                    <a:lstStyle/>
                    <a:p>
                      <a:pPr marL="0" indent="0">
                        <a:buNone/>
                      </a:pPr>
                      <a:r>
                        <a:rPr lang="en-US" sz="1100" b="1" dirty="0">
                          <a:solidFill>
                            <a:srgbClr val="FF5D5D"/>
                          </a:solidFill>
                          <a:latin typeface="IBM Plex Sans" pitchFamily="34" charset="0"/>
                          <a:ea typeface="IBM Plex Sans" pitchFamily="34" charset="-122"/>
                          <a:cs typeface="IBM Plex Sans" pitchFamily="34" charset="-120"/>
                        </a:rPr>
                        <a:t>No</a:t>
                      </a:r>
                      <a:endParaRPr lang="en-US" sz="1100" dirty="0">
                        <a:latin typeface="IBM Plex Sans" charset="0"/>
                        <a:ea typeface="IBM Plex Sans" charset="0"/>
                        <a:cs typeface="IBM Plex Sans" charset="0"/>
                      </a:endParaRPr>
                    </a:p>
                  </a:txBody>
                  <a:tcPr marL="73152" marR="73152"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tcPr>
                </a:tc>
                <a:tc>
                  <a:txBody>
                    <a:bodyPr/>
                    <a:lstStyle/>
                    <a:p>
                      <a:pPr marL="0" indent="0">
                        <a:buNone/>
                      </a:pPr>
                      <a:r>
                        <a:rPr lang="en-US" sz="1100" dirty="0">
                          <a:solidFill>
                            <a:schemeClr val="tx1"/>
                          </a:solidFill>
                          <a:latin typeface="IBM Plex Sans" pitchFamily="34" charset="0"/>
                          <a:ea typeface="IBM Plex Sans" pitchFamily="34" charset="-122"/>
                          <a:cs typeface="IBM Plex Sans" pitchFamily="34" charset="-120"/>
                        </a:rPr>
                        <a:t>Needs a managed extension</a:t>
                      </a:r>
                      <a:endParaRPr lang="en-US" sz="1100" dirty="0">
                        <a:latin typeface="IBM Plex Sans" charset="0"/>
                        <a:ea typeface="IBM Plex Sans" charset="0"/>
                        <a:cs typeface="IBM Plex Sans" charset="0"/>
                      </a:endParaRPr>
                    </a:p>
                  </a:txBody>
                  <a:tcPr marL="73152" marR="73152"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buNone/>
                      </a:pPr>
                      <a:r>
                        <a:rPr lang="en-US" sz="1100" dirty="0">
                          <a:solidFill>
                            <a:schemeClr val="tx1"/>
                          </a:solidFill>
                          <a:latin typeface="IBM Plex Sans" pitchFamily="34" charset="0"/>
                          <a:ea typeface="IBM Plex Sans" pitchFamily="34" charset="-122"/>
                          <a:cs typeface="IBM Plex Sans" pitchFamily="34" charset="-120"/>
                        </a:rPr>
                        <a:t>Desktop AI apps</a:t>
                      </a:r>
                      <a:endParaRPr lang="en-US" sz="1100" dirty="0">
                        <a:latin typeface="IBM Plex Sans" charset="0"/>
                        <a:ea typeface="IBM Plex Sans" charset="0"/>
                        <a:cs typeface="IBM Plex Sans" charset="0"/>
                      </a:endParaRPr>
                    </a:p>
                  </a:txBody>
                  <a:tcPr marL="73152" marR="73152"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tcPr>
                </a:tc>
                <a:tc>
                  <a:txBody>
                    <a:bodyPr/>
                    <a:lstStyle/>
                    <a:p>
                      <a:pPr marL="0" indent="0">
                        <a:buNone/>
                      </a:pPr>
                      <a:r>
                        <a:rPr lang="en-US" sz="1100" dirty="0">
                          <a:solidFill>
                            <a:schemeClr val="tx1"/>
                          </a:solidFill>
                          <a:latin typeface="IBM Plex Sans" pitchFamily="34" charset="0"/>
                          <a:ea typeface="IBM Plex Sans" pitchFamily="34" charset="-122"/>
                          <a:cs typeface="IBM Plex Sans" pitchFamily="34" charset="-120"/>
                        </a:rPr>
                        <a:t>Process inventory, CPU, memory</a:t>
                      </a:r>
                      <a:endParaRPr lang="en-US" sz="1100" dirty="0">
                        <a:latin typeface="IBM Plex Sans" charset="0"/>
                        <a:ea typeface="IBM Plex Sans" charset="0"/>
                        <a:cs typeface="IBM Plex Sans" charset="0"/>
                      </a:endParaRPr>
                    </a:p>
                  </a:txBody>
                  <a:tcPr marL="73152" marR="73152"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tcPr>
                </a:tc>
                <a:tc>
                  <a:txBody>
                    <a:bodyPr/>
                    <a:lstStyle/>
                    <a:p>
                      <a:pPr marL="0" indent="0">
                        <a:buNone/>
                      </a:pPr>
                      <a:r>
                        <a:rPr lang="en-US" sz="1100" b="1" dirty="0">
                          <a:solidFill>
                            <a:srgbClr val="FF5D5D"/>
                          </a:solidFill>
                          <a:latin typeface="IBM Plex Sans" pitchFamily="34" charset="0"/>
                          <a:ea typeface="IBM Plex Sans" pitchFamily="34" charset="-122"/>
                          <a:cs typeface="IBM Plex Sans" pitchFamily="34" charset="-120"/>
                        </a:rPr>
                        <a:t>No</a:t>
                      </a:r>
                      <a:endParaRPr lang="en-US" sz="1100" dirty="0">
                        <a:latin typeface="IBM Plex Sans" charset="0"/>
                        <a:ea typeface="IBM Plex Sans" charset="0"/>
                        <a:cs typeface="IBM Plex Sans" charset="0"/>
                      </a:endParaRPr>
                    </a:p>
                  </a:txBody>
                  <a:tcPr marL="73152" marR="73152"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tcPr>
                </a:tc>
                <a:tc>
                  <a:txBody>
                    <a:bodyPr/>
                    <a:lstStyle/>
                    <a:p>
                      <a:pPr marL="0" indent="0">
                        <a:buNone/>
                      </a:pPr>
                      <a:r>
                        <a:rPr lang="en-US" sz="1100" dirty="0">
                          <a:solidFill>
                            <a:schemeClr val="tx1"/>
                          </a:solidFill>
                          <a:latin typeface="IBM Plex Sans" pitchFamily="34" charset="0"/>
                          <a:ea typeface="IBM Plex Sans" pitchFamily="34" charset="-122"/>
                          <a:cs typeface="IBM Plex Sans" pitchFamily="34" charset="-120"/>
                        </a:rPr>
                        <a:t>Needs network egress rules</a:t>
                      </a:r>
                      <a:endParaRPr lang="en-US" sz="1100" dirty="0">
                        <a:latin typeface="IBM Plex Sans" charset="0"/>
                        <a:ea typeface="IBM Plex Sans" charset="0"/>
                        <a:cs typeface="IBM Plex Sans" charset="0"/>
                      </a:endParaRPr>
                    </a:p>
                  </a:txBody>
                  <a:tcPr marL="73152" marR="73152"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tcPr>
                </a:tc>
                <a:extLst>
                  <a:ext uri="{0D108BD9-81ED-4DB2-BD59-A6C34878D82A}">
                    <a16:rowId xmlns:a16="http://schemas.microsoft.com/office/drawing/2014/main" val="10005"/>
                  </a:ext>
                </a:extLst>
              </a:tr>
              <a:tr h="365760">
                <a:tc>
                  <a:txBody>
                    <a:bodyPr/>
                    <a:lstStyle/>
                    <a:p>
                      <a:pPr marL="0" indent="0">
                        <a:buNone/>
                      </a:pPr>
                      <a:r>
                        <a:rPr lang="en-US" sz="1100" dirty="0">
                          <a:solidFill>
                            <a:schemeClr val="tx1"/>
                          </a:solidFill>
                          <a:latin typeface="IBM Plex Sans" pitchFamily="34" charset="0"/>
                          <a:ea typeface="IBM Plex Sans" pitchFamily="34" charset="-122"/>
                          <a:cs typeface="IBM Plex Sans" pitchFamily="34" charset="-120"/>
                        </a:rPr>
                        <a:t>Other machines</a:t>
                      </a:r>
                      <a:endParaRPr lang="en-US" sz="1100" dirty="0">
                        <a:latin typeface="IBM Plex Sans" charset="0"/>
                        <a:ea typeface="IBM Plex Sans" charset="0"/>
                        <a:cs typeface="IBM Plex Sans" charset="0"/>
                      </a:endParaRPr>
                    </a:p>
                  </a:txBody>
                  <a:tcPr marL="73152" marR="73152"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tcPr>
                </a:tc>
                <a:tc>
                  <a:txBody>
                    <a:bodyPr/>
                    <a:lstStyle/>
                    <a:p>
                      <a:pPr marL="0" indent="0">
                        <a:buNone/>
                      </a:pPr>
                      <a:r>
                        <a:rPr lang="en-US" sz="1100" dirty="0">
                          <a:solidFill>
                            <a:schemeClr val="tx1"/>
                          </a:solidFill>
                          <a:latin typeface="IBM Plex Sans" pitchFamily="34" charset="0"/>
                          <a:ea typeface="IBM Plex Sans" pitchFamily="34" charset="-122"/>
                          <a:cs typeface="IBM Plex Sans" pitchFamily="34" charset="-120"/>
                        </a:rPr>
                        <a:t>Out of scope</a:t>
                      </a:r>
                      <a:endParaRPr lang="en-US" sz="1100" dirty="0">
                        <a:latin typeface="IBM Plex Sans" charset="0"/>
                        <a:ea typeface="IBM Plex Sans" charset="0"/>
                        <a:cs typeface="IBM Plex Sans" charset="0"/>
                      </a:endParaRPr>
                    </a:p>
                  </a:txBody>
                  <a:tcPr marL="73152" marR="73152"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tcPr>
                </a:tc>
                <a:tc>
                  <a:txBody>
                    <a:bodyPr/>
                    <a:lstStyle/>
                    <a:p>
                      <a:pPr marL="0" indent="0">
                        <a:buNone/>
                      </a:pPr>
                      <a:r>
                        <a:rPr lang="en-US" sz="1100" b="1" dirty="0">
                          <a:solidFill>
                            <a:srgbClr val="FF5D5D"/>
                          </a:solidFill>
                          <a:latin typeface="IBM Plex Sans" pitchFamily="34" charset="0"/>
                          <a:ea typeface="IBM Plex Sans" pitchFamily="34" charset="-122"/>
                          <a:cs typeface="IBM Plex Sans" pitchFamily="34" charset="-120"/>
                        </a:rPr>
                        <a:t>No</a:t>
                      </a:r>
                      <a:endParaRPr lang="en-US" sz="1100" dirty="0">
                        <a:latin typeface="IBM Plex Sans" charset="0"/>
                        <a:ea typeface="IBM Plex Sans" charset="0"/>
                        <a:cs typeface="IBM Plex Sans" charset="0"/>
                      </a:endParaRPr>
                    </a:p>
                  </a:txBody>
                  <a:tcPr marL="73152" marR="73152"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tcPr>
                </a:tc>
                <a:tc>
                  <a:txBody>
                    <a:bodyPr/>
                    <a:lstStyle/>
                    <a:p>
                      <a:pPr marL="0" indent="0">
                        <a:buNone/>
                      </a:pPr>
                      <a:r>
                        <a:rPr lang="en-US" sz="1100" dirty="0">
                          <a:solidFill>
                            <a:schemeClr val="tx1"/>
                          </a:solidFill>
                          <a:latin typeface="IBM Plex Sans" pitchFamily="34" charset="0"/>
                          <a:ea typeface="IBM Plex Sans" pitchFamily="34" charset="-122"/>
                          <a:cs typeface="IBM Plex Sans" pitchFamily="34" charset="-120"/>
                        </a:rPr>
                        <a:t>Needs endpoint rollout</a:t>
                      </a:r>
                      <a:endParaRPr lang="en-US" sz="1100" dirty="0">
                        <a:latin typeface="IBM Plex Sans" charset="0"/>
                        <a:ea typeface="IBM Plex Sans" charset="0"/>
                        <a:cs typeface="IBM Plex Sans" charset="0"/>
                      </a:endParaRPr>
                    </a:p>
                  </a:txBody>
                  <a:tcPr marL="73152" marR="73152"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txBox="1"/>
          <p:nvPr/>
        </p:nvSpPr>
        <p:spPr>
          <a:xfrm>
            <a:off x="566928" y="4160520"/>
            <a:ext cx="8001000" cy="365760"/>
          </a:xfrm>
          <a:prstGeom prst="rect">
            <a:avLst/>
          </a:prstGeom>
          <a:noFill/>
          <a:ln/>
        </p:spPr>
        <p:txBody>
          <a:bodyPr wrap="square" lIns="0" tIns="0" rIns="0" bIns="0" rtlCol="0" anchor="t"/>
          <a:lstStyle/>
          <a:p>
            <a:pPr marL="0" indent="0">
              <a:buNone/>
            </a:pPr>
            <a:r>
              <a:rPr lang="en-US" sz="1300" dirty="0">
                <a:solidFill>
                  <a:schemeClr val="tx2"/>
                </a:solidFill>
              </a:rPr>
              <a:t>A local tool stops accidents, not deliberate exfiltration through another device.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566928" y="566928"/>
            <a:ext cx="8001000" cy="512064"/>
          </a:xfrm>
          <a:prstGeom prst="rect">
            <a:avLst/>
          </a:prstGeom>
          <a:noFill/>
          <a:ln/>
        </p:spPr>
        <p:txBody>
          <a:bodyPr wrap="square" lIns="0" tIns="0" rIns="0" bIns="0" rtlCol="0" anchor="ctr"/>
          <a:lstStyle/>
          <a:p>
            <a:pPr marL="0" indent="0">
              <a:buNone/>
            </a:pPr>
            <a:r>
              <a:rPr lang="en-US" sz="2850" b="1" dirty="0">
                <a:solidFill>
                  <a:schemeClr val="tx1"/>
                </a:solidFill>
              </a:rPr>
              <a:t>Test: replaying real agent traffic</a:t>
            </a:r>
            <a:endParaRPr lang="en-US" sz="2850" dirty="0"/>
          </a:p>
        </p:txBody>
      </p:sp>
      <p:sp>
        <p:nvSpPr>
          <p:cNvPr id="3" name="Text 1"/>
          <p:cNvSpPr txBox="1"/>
          <p:nvPr/>
        </p:nvSpPr>
        <p:spPr>
          <a:xfrm>
            <a:off x="7653528" y="4864608"/>
            <a:ext cx="914400" cy="219456"/>
          </a:xfrm>
          <a:prstGeom prst="rect">
            <a:avLst/>
          </a:prstGeom>
          <a:noFill/>
          <a:ln/>
        </p:spPr>
        <p:txBody>
          <a:bodyPr wrap="square" lIns="0" tIns="0" rIns="0" bIns="0" rtlCol="0" anchor="ctr"/>
          <a:lstStyle/>
          <a:p>
            <a:pPr marL="0" indent="0" algn="r">
              <a:buNone/>
            </a:pPr>
            <a:r>
              <a:rPr lang="en-US" sz="1130" dirty="0">
                <a:solidFill>
                  <a:schemeClr val="tx2"/>
                </a:solidFill>
                <a:latin typeface="JetBrains Mono" pitchFamily="34" charset="0"/>
                <a:ea typeface="JetBrains Mono" pitchFamily="34" charset="-122"/>
                <a:cs typeface="JetBrains Mono" pitchFamily="34" charset="-120"/>
              </a:rPr>
              <a:t>10 / 16</a:t>
            </a:r>
            <a:endParaRPr lang="en-US" sz="1130" dirty="0"/>
          </a:p>
        </p:txBody>
      </p:sp>
      <p:sp>
        <p:nvSpPr>
          <p:cNvPr id="4" name="Text 2"/>
          <p:cNvSpPr txBox="1"/>
          <p:nvPr/>
        </p:nvSpPr>
        <p:spPr>
          <a:xfrm>
            <a:off x="566928" y="1371600"/>
            <a:ext cx="548640" cy="457200"/>
          </a:xfrm>
          <a:prstGeom prst="rect">
            <a:avLst/>
          </a:prstGeom>
          <a:noFill/>
          <a:ln/>
        </p:spPr>
        <p:txBody>
          <a:bodyPr wrap="square" lIns="0" tIns="0" rIns="0" bIns="0" rtlCol="0" anchor="t"/>
          <a:lstStyle/>
          <a:p>
            <a:pPr marL="0" indent="0">
              <a:buNone/>
            </a:pPr>
            <a:r>
              <a:rPr lang="en-US" sz="2200" b="1" dirty="0">
                <a:solidFill>
                  <a:srgbClr val="00B0F0"/>
                </a:solidFill>
              </a:rPr>
              <a:t>01</a:t>
            </a:r>
            <a:endParaRPr lang="en-US" sz="2200" dirty="0"/>
          </a:p>
        </p:txBody>
      </p:sp>
      <p:sp>
        <p:nvSpPr>
          <p:cNvPr id="5" name="Text 3"/>
          <p:cNvSpPr txBox="1"/>
          <p:nvPr/>
        </p:nvSpPr>
        <p:spPr>
          <a:xfrm>
            <a:off x="1188720" y="1371600"/>
            <a:ext cx="3749040" cy="274320"/>
          </a:xfrm>
          <a:prstGeom prst="rect">
            <a:avLst/>
          </a:prstGeom>
          <a:noFill/>
          <a:ln/>
        </p:spPr>
        <p:txBody>
          <a:bodyPr wrap="square" lIns="0" tIns="0" rIns="0" bIns="0" rtlCol="0" anchor="t"/>
          <a:lstStyle/>
          <a:p>
            <a:pPr marL="0" indent="0">
              <a:buNone/>
            </a:pPr>
            <a:r>
              <a:rPr lang="en-US" sz="1500" b="1" dirty="0">
                <a:solidFill>
                  <a:schemeClr val="tx1"/>
                </a:solidFill>
              </a:rPr>
              <a:t>Real data</a:t>
            </a:r>
            <a:endParaRPr lang="en-US" sz="1500" dirty="0"/>
          </a:p>
        </p:txBody>
      </p:sp>
      <p:sp>
        <p:nvSpPr>
          <p:cNvPr id="6" name="Text 4"/>
          <p:cNvSpPr txBox="1"/>
          <p:nvPr/>
        </p:nvSpPr>
        <p:spPr>
          <a:xfrm>
            <a:off x="1188720" y="1664208"/>
            <a:ext cx="3749040" cy="457200"/>
          </a:xfrm>
          <a:prstGeom prst="rect">
            <a:avLst/>
          </a:prstGeom>
          <a:noFill/>
          <a:ln/>
        </p:spPr>
        <p:txBody>
          <a:bodyPr wrap="square" lIns="0" tIns="0" rIns="0" bIns="0" rtlCol="0" anchor="t"/>
          <a:lstStyle/>
          <a:p>
            <a:pPr marL="0" indent="0">
              <a:buNone/>
            </a:pPr>
            <a:r>
              <a:rPr lang="en-US" sz="1200" dirty="0">
                <a:solidFill>
                  <a:schemeClr val="tx2"/>
                </a:solidFill>
              </a:rPr>
              <a:t>AI Village (AI Digest): 3.18M rows from 4 tables of frontier agents at work</a:t>
            </a:r>
            <a:endParaRPr lang="en-US" sz="1200" dirty="0"/>
          </a:p>
        </p:txBody>
      </p:sp>
      <p:sp>
        <p:nvSpPr>
          <p:cNvPr id="7" name="Text 5"/>
          <p:cNvSpPr txBox="1"/>
          <p:nvPr/>
        </p:nvSpPr>
        <p:spPr>
          <a:xfrm>
            <a:off x="566928" y="2157984"/>
            <a:ext cx="548640" cy="457200"/>
          </a:xfrm>
          <a:prstGeom prst="rect">
            <a:avLst/>
          </a:prstGeom>
          <a:noFill/>
          <a:ln/>
        </p:spPr>
        <p:txBody>
          <a:bodyPr wrap="square" lIns="0" tIns="0" rIns="0" bIns="0" rtlCol="0" anchor="t"/>
          <a:lstStyle/>
          <a:p>
            <a:pPr marL="0" indent="0">
              <a:buNone/>
            </a:pPr>
            <a:r>
              <a:rPr lang="en-US" sz="2200" b="1" dirty="0">
                <a:solidFill>
                  <a:srgbClr val="00B0F0"/>
                </a:solidFill>
              </a:rPr>
              <a:t>02</a:t>
            </a:r>
            <a:endParaRPr lang="en-US" sz="2200" dirty="0"/>
          </a:p>
        </p:txBody>
      </p:sp>
      <p:sp>
        <p:nvSpPr>
          <p:cNvPr id="8" name="Text 6"/>
          <p:cNvSpPr txBox="1"/>
          <p:nvPr/>
        </p:nvSpPr>
        <p:spPr>
          <a:xfrm>
            <a:off x="1188720" y="2157984"/>
            <a:ext cx="3749040" cy="274320"/>
          </a:xfrm>
          <a:prstGeom prst="rect">
            <a:avLst/>
          </a:prstGeom>
          <a:noFill/>
          <a:ln/>
        </p:spPr>
        <p:txBody>
          <a:bodyPr wrap="square" lIns="0" tIns="0" rIns="0" bIns="0" rtlCol="0" anchor="t"/>
          <a:lstStyle/>
          <a:p>
            <a:pPr marL="0" indent="0">
              <a:buNone/>
            </a:pPr>
            <a:r>
              <a:rPr lang="en-US" sz="1500" b="1" dirty="0">
                <a:solidFill>
                  <a:schemeClr val="tx1"/>
                </a:solidFill>
              </a:rPr>
              <a:t>Real code path</a:t>
            </a:r>
            <a:endParaRPr lang="en-US" sz="1500" dirty="0"/>
          </a:p>
        </p:txBody>
      </p:sp>
      <p:sp>
        <p:nvSpPr>
          <p:cNvPr id="9" name="Text 7"/>
          <p:cNvSpPr txBox="1"/>
          <p:nvPr/>
        </p:nvSpPr>
        <p:spPr>
          <a:xfrm>
            <a:off x="1188720" y="2450592"/>
            <a:ext cx="3749040" cy="457200"/>
          </a:xfrm>
          <a:prstGeom prst="rect">
            <a:avLst/>
          </a:prstGeom>
          <a:noFill/>
          <a:ln/>
        </p:spPr>
        <p:txBody>
          <a:bodyPr wrap="square" lIns="0" tIns="0" rIns="0" bIns="0" rtlCol="0" anchor="t"/>
          <a:lstStyle/>
          <a:p>
            <a:pPr marL="0" indent="0">
              <a:buNone/>
            </a:pPr>
            <a:r>
              <a:rPr lang="en-US" sz="1200" dirty="0">
                <a:solidFill>
                  <a:schemeClr val="tx2"/>
                </a:solidFill>
              </a:rPr>
              <a:t>Every row through the shipped scanner and decide(), example policy, public-api destination</a:t>
            </a:r>
            <a:endParaRPr lang="en-US" sz="1200" dirty="0"/>
          </a:p>
        </p:txBody>
      </p:sp>
      <p:sp>
        <p:nvSpPr>
          <p:cNvPr id="10" name="Text 8"/>
          <p:cNvSpPr txBox="1"/>
          <p:nvPr/>
        </p:nvSpPr>
        <p:spPr>
          <a:xfrm>
            <a:off x="566928" y="2944368"/>
            <a:ext cx="548640" cy="457200"/>
          </a:xfrm>
          <a:prstGeom prst="rect">
            <a:avLst/>
          </a:prstGeom>
          <a:noFill/>
          <a:ln/>
        </p:spPr>
        <p:txBody>
          <a:bodyPr wrap="square" lIns="0" tIns="0" rIns="0" bIns="0" rtlCol="0" anchor="t"/>
          <a:lstStyle/>
          <a:p>
            <a:pPr marL="0" indent="0">
              <a:buNone/>
            </a:pPr>
            <a:r>
              <a:rPr lang="en-US" sz="2200" b="1" dirty="0">
                <a:solidFill>
                  <a:srgbClr val="00B0F0"/>
                </a:solidFill>
              </a:rPr>
              <a:t>03</a:t>
            </a:r>
            <a:endParaRPr lang="en-US" sz="2200" dirty="0"/>
          </a:p>
        </p:txBody>
      </p:sp>
      <p:sp>
        <p:nvSpPr>
          <p:cNvPr id="11" name="Text 9"/>
          <p:cNvSpPr txBox="1"/>
          <p:nvPr/>
        </p:nvSpPr>
        <p:spPr>
          <a:xfrm>
            <a:off x="1188720" y="2944368"/>
            <a:ext cx="3749040" cy="274320"/>
          </a:xfrm>
          <a:prstGeom prst="rect">
            <a:avLst/>
          </a:prstGeom>
          <a:noFill/>
          <a:ln/>
        </p:spPr>
        <p:txBody>
          <a:bodyPr wrap="square" lIns="0" tIns="0" rIns="0" bIns="0" rtlCol="0" anchor="t"/>
          <a:lstStyle/>
          <a:p>
            <a:pPr marL="0" indent="0">
              <a:buNone/>
            </a:pPr>
            <a:r>
              <a:rPr lang="en-US" sz="1500" b="1" dirty="0">
                <a:solidFill>
                  <a:schemeClr val="tx1"/>
                </a:solidFill>
              </a:rPr>
              <a:t>Aggregates only</a:t>
            </a:r>
            <a:endParaRPr lang="en-US" sz="1500" dirty="0"/>
          </a:p>
        </p:txBody>
      </p:sp>
      <p:sp>
        <p:nvSpPr>
          <p:cNvPr id="12" name="Text 10"/>
          <p:cNvSpPr txBox="1"/>
          <p:nvPr/>
        </p:nvSpPr>
        <p:spPr>
          <a:xfrm>
            <a:off x="1188720" y="3236976"/>
            <a:ext cx="3749040" cy="457200"/>
          </a:xfrm>
          <a:prstGeom prst="rect">
            <a:avLst/>
          </a:prstGeom>
          <a:noFill/>
          <a:ln/>
        </p:spPr>
        <p:txBody>
          <a:bodyPr wrap="square" lIns="0" tIns="0" rIns="0" bIns="0" rtlCol="0" anchor="t"/>
          <a:lstStyle/>
          <a:p>
            <a:pPr marL="0" indent="0">
              <a:buNone/>
            </a:pPr>
            <a:r>
              <a:rPr lang="en-US" sz="1200" dirty="0">
                <a:solidFill>
                  <a:schemeClr val="tx2"/>
                </a:solidFill>
              </a:rPr>
              <a:t>The harness writes counts and latencies; no row content leaves it</a:t>
            </a:r>
            <a:endParaRPr lang="en-US" sz="1200" dirty="0"/>
          </a:p>
        </p:txBody>
      </p:sp>
      <p:sp>
        <p:nvSpPr>
          <p:cNvPr id="13" name="Text 11"/>
          <p:cNvSpPr txBox="1"/>
          <p:nvPr/>
        </p:nvSpPr>
        <p:spPr>
          <a:xfrm>
            <a:off x="566928" y="3730752"/>
            <a:ext cx="548640" cy="457200"/>
          </a:xfrm>
          <a:prstGeom prst="rect">
            <a:avLst/>
          </a:prstGeom>
          <a:noFill/>
          <a:ln/>
        </p:spPr>
        <p:txBody>
          <a:bodyPr wrap="square" lIns="0" tIns="0" rIns="0" bIns="0" rtlCol="0" anchor="t"/>
          <a:lstStyle/>
          <a:p>
            <a:pPr marL="0" indent="0">
              <a:buNone/>
            </a:pPr>
            <a:r>
              <a:rPr lang="en-US" sz="2200" b="1" dirty="0">
                <a:solidFill>
                  <a:srgbClr val="00B0F0"/>
                </a:solidFill>
              </a:rPr>
              <a:t>04</a:t>
            </a:r>
            <a:endParaRPr lang="en-US" sz="2200" dirty="0"/>
          </a:p>
        </p:txBody>
      </p:sp>
      <p:sp>
        <p:nvSpPr>
          <p:cNvPr id="14" name="Text 12"/>
          <p:cNvSpPr txBox="1"/>
          <p:nvPr/>
        </p:nvSpPr>
        <p:spPr>
          <a:xfrm>
            <a:off x="1188720" y="3730752"/>
            <a:ext cx="3749040" cy="274320"/>
          </a:xfrm>
          <a:prstGeom prst="rect">
            <a:avLst/>
          </a:prstGeom>
          <a:noFill/>
          <a:ln/>
        </p:spPr>
        <p:txBody>
          <a:bodyPr wrap="square" lIns="0" tIns="0" rIns="0" bIns="0" rtlCol="0" anchor="t"/>
          <a:lstStyle/>
          <a:p>
            <a:pPr marL="0" indent="0">
              <a:buNone/>
            </a:pPr>
            <a:r>
              <a:rPr lang="en-US" sz="1500" b="1" dirty="0">
                <a:solidFill>
                  <a:schemeClr val="tx1"/>
                </a:solidFill>
              </a:rPr>
              <a:t>Private review</a:t>
            </a:r>
            <a:endParaRPr lang="en-US" sz="1500" dirty="0"/>
          </a:p>
        </p:txBody>
      </p:sp>
      <p:sp>
        <p:nvSpPr>
          <p:cNvPr id="15" name="Text 13"/>
          <p:cNvSpPr txBox="1"/>
          <p:nvPr/>
        </p:nvSpPr>
        <p:spPr>
          <a:xfrm>
            <a:off x="1188720" y="4023360"/>
            <a:ext cx="3749040" cy="457200"/>
          </a:xfrm>
          <a:prstGeom prst="rect">
            <a:avLst/>
          </a:prstGeom>
          <a:noFill/>
          <a:ln/>
        </p:spPr>
        <p:txBody>
          <a:bodyPr wrap="square" lIns="0" tIns="0" rIns="0" bIns="0" rtlCol="0" anchor="t"/>
          <a:lstStyle/>
          <a:p>
            <a:pPr marL="0" indent="0">
              <a:buNone/>
            </a:pPr>
            <a:r>
              <a:rPr lang="en-US" sz="1200" dirty="0">
                <a:solidFill>
                  <a:schemeClr val="tx2"/>
                </a:solidFill>
              </a:rPr>
              <a:t>Hits sampled with values masked to estimate precision by hand</a:t>
            </a:r>
            <a:endParaRPr lang="en-US" sz="1200" dirty="0"/>
          </a:p>
        </p:txBody>
      </p:sp>
      <p:sp>
        <p:nvSpPr>
          <p:cNvPr id="16" name="Data handling"/>
          <p:cNvSpPr/>
          <p:nvPr/>
        </p:nvSpPr>
        <p:spPr>
          <a:xfrm>
            <a:off x="5394960" y="1325880"/>
            <a:ext cx="3172968" cy="3108960"/>
          </a:xfrm>
          <a:prstGeom prst="rect">
            <a:avLst/>
          </a:prstGeom>
          <a:solidFill>
            <a:schemeClr val="bg2"/>
          </a:solidFill>
          <a:ln w="15875">
            <a:solidFill>
              <a:srgbClr val="F5B83D"/>
            </a:solidFill>
            <a:prstDash val="solid"/>
          </a:ln>
        </p:spPr>
        <p:txBody>
          <a:bodyPr/>
          <a:lstStyle/>
          <a:p>
            <a:endParaRPr lang="en-US"/>
          </a:p>
        </p:txBody>
      </p:sp>
      <p:sp>
        <p:nvSpPr>
          <p:cNvPr id="17" name="Text 15"/>
          <p:cNvSpPr txBox="1"/>
          <p:nvPr/>
        </p:nvSpPr>
        <p:spPr>
          <a:xfrm>
            <a:off x="5577840" y="1481328"/>
            <a:ext cx="2834640" cy="320040"/>
          </a:xfrm>
          <a:prstGeom prst="rect">
            <a:avLst/>
          </a:prstGeom>
          <a:noFill/>
          <a:ln/>
        </p:spPr>
        <p:txBody>
          <a:bodyPr wrap="square" lIns="0" tIns="0" rIns="0" bIns="0" rtlCol="0" anchor="t"/>
          <a:lstStyle/>
          <a:p>
            <a:pPr marL="0" indent="0">
              <a:buNone/>
            </a:pPr>
            <a:r>
              <a:rPr lang="en-US" sz="1500" b="1" dirty="0">
                <a:solidFill>
                  <a:srgbClr val="F5B83D"/>
                </a:solidFill>
              </a:rPr>
              <a:t>Confidential data</a:t>
            </a:r>
            <a:endParaRPr lang="en-US" sz="1500" dirty="0"/>
          </a:p>
        </p:txBody>
      </p:sp>
      <p:sp>
        <p:nvSpPr>
          <p:cNvPr id="18" name="Text 16"/>
          <p:cNvSpPr txBox="1"/>
          <p:nvPr/>
        </p:nvSpPr>
        <p:spPr>
          <a:xfrm>
            <a:off x="5577840" y="1920240"/>
            <a:ext cx="2834640" cy="23774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Gated research dataset, used under its terms</a:t>
            </a:r>
            <a:endParaRPr lang="en-US" sz="1300" dirty="0"/>
          </a:p>
          <a:p>
            <a:pPr marL="177800" indent="-177800">
              <a:spcAft>
                <a:spcPts val="600"/>
              </a:spcAft>
              <a:buSzPct val="100000"/>
              <a:buChar char="•"/>
            </a:pPr>
            <a:r>
              <a:rPr lang="en-US" sz="1300" dirty="0">
                <a:solidFill>
                  <a:schemeClr val="tx1"/>
                </a:solidFill>
              </a:rPr>
              <a:t>Processed on one laptop, never uploaded</a:t>
            </a:r>
            <a:endParaRPr lang="en-US" sz="1300" dirty="0"/>
          </a:p>
          <a:p>
            <a:pPr marL="177800" indent="-177800">
              <a:spcAft>
                <a:spcPts val="600"/>
              </a:spcAft>
              <a:buSzPct val="100000"/>
              <a:buChar char="•"/>
            </a:pPr>
            <a:r>
              <a:rPr lang="en-US" sz="1300" dirty="0">
                <a:solidFill>
                  <a:schemeClr val="tx1"/>
                </a:solidFill>
              </a:rPr>
              <a:t>No row, message or value is quoted in this deck</a:t>
            </a:r>
            <a:endParaRPr lang="en-US" sz="1300" dirty="0"/>
          </a:p>
          <a:p>
            <a:pPr marL="177800" indent="-177800">
              <a:spcAft>
                <a:spcPts val="600"/>
              </a:spcAft>
              <a:buSzPct val="100000"/>
              <a:buChar char="•"/>
            </a:pPr>
            <a:r>
              <a:rPr lang="en-US" sz="1300" dirty="0">
                <a:solidFill>
                  <a:schemeClr val="tx1"/>
                </a:solidFill>
              </a:rPr>
              <a:t>Replay harness kept out of the public repo</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566928" y="566928"/>
            <a:ext cx="8001000" cy="512064"/>
          </a:xfrm>
          <a:prstGeom prst="rect">
            <a:avLst/>
          </a:prstGeom>
          <a:noFill/>
          <a:ln/>
        </p:spPr>
        <p:txBody>
          <a:bodyPr wrap="square" lIns="0" tIns="0" rIns="0" bIns="0" rtlCol="0" anchor="ctr"/>
          <a:lstStyle/>
          <a:p>
            <a:pPr marL="0" indent="0">
              <a:buNone/>
            </a:pPr>
            <a:r>
              <a:rPr lang="en-US" sz="2850" b="1" dirty="0">
                <a:solidFill>
                  <a:schemeClr val="tx1"/>
                </a:solidFill>
              </a:rPr>
              <a:t>Evidence: 3.18M rows, 10.1 GB of agent text</a:t>
            </a:r>
            <a:endParaRPr lang="en-US" sz="2850" dirty="0"/>
          </a:p>
        </p:txBody>
      </p:sp>
      <p:sp>
        <p:nvSpPr>
          <p:cNvPr id="3" name="Text 1"/>
          <p:cNvSpPr txBox="1"/>
          <p:nvPr/>
        </p:nvSpPr>
        <p:spPr>
          <a:xfrm>
            <a:off x="7653528" y="4864608"/>
            <a:ext cx="914400" cy="219456"/>
          </a:xfrm>
          <a:prstGeom prst="rect">
            <a:avLst/>
          </a:prstGeom>
          <a:noFill/>
          <a:ln/>
        </p:spPr>
        <p:txBody>
          <a:bodyPr wrap="square" lIns="0" tIns="0" rIns="0" bIns="0" rtlCol="0" anchor="ctr"/>
          <a:lstStyle/>
          <a:p>
            <a:pPr marL="0" indent="0" algn="r">
              <a:buNone/>
            </a:pPr>
            <a:r>
              <a:rPr lang="en-US" sz="1130" dirty="0">
                <a:solidFill>
                  <a:schemeClr val="tx2"/>
                </a:solidFill>
                <a:latin typeface="JetBrains Mono" pitchFamily="34" charset="0"/>
                <a:ea typeface="JetBrains Mono" pitchFamily="34" charset="-122"/>
                <a:cs typeface="JetBrains Mono" pitchFamily="34" charset="-120"/>
              </a:rPr>
              <a:t>11 / 16</a:t>
            </a:r>
            <a:endParaRPr lang="en-US" sz="1130" dirty="0"/>
          </a:p>
        </p:txBody>
      </p:sp>
      <p:sp>
        <p:nvSpPr>
          <p:cNvPr id="4" name="Chart card"/>
          <p:cNvSpPr/>
          <p:nvPr/>
        </p:nvSpPr>
        <p:spPr>
          <a:xfrm>
            <a:off x="566928" y="1325880"/>
            <a:ext cx="4983480" cy="3246120"/>
          </a:xfrm>
          <a:prstGeom prst="rect">
            <a:avLst/>
          </a:prstGeom>
          <a:solidFill>
            <a:schemeClr val="bg2"/>
          </a:solidFill>
          <a:ln/>
        </p:spPr>
        <p:txBody>
          <a:bodyPr/>
          <a:lstStyle/>
          <a:p>
            <a:endParaRPr lang="en-US"/>
          </a:p>
        </p:txBody>
      </p:sp>
      <p:graphicFrame>
        <p:nvGraphicFramePr>
          <p:cNvPr id="5" name="Chart 0"/>
          <p:cNvGraphicFramePr/>
          <p:nvPr/>
        </p:nvGraphicFramePr>
        <p:xfrm>
          <a:off x="685800" y="1417320"/>
          <a:ext cx="475488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760720" y="1325880"/>
            <a:ext cx="2807208" cy="1554480"/>
          </a:xfrm>
          <a:prstGeom prst="rect">
            <a:avLst/>
          </a:prstGeom>
          <a:solidFill>
            <a:schemeClr val="bg2"/>
          </a:solidFill>
          <a:ln/>
        </p:spPr>
        <p:txBody>
          <a:bodyPr/>
          <a:lstStyle/>
          <a:p>
            <a:endParaRPr lang="en-US"/>
          </a:p>
        </p:txBody>
      </p:sp>
      <p:sp>
        <p:nvSpPr>
          <p:cNvPr id="7" name="Text 4"/>
          <p:cNvSpPr txBox="1"/>
          <p:nvPr/>
        </p:nvSpPr>
        <p:spPr>
          <a:xfrm>
            <a:off x="5943600" y="1490472"/>
            <a:ext cx="2441448" cy="548640"/>
          </a:xfrm>
          <a:prstGeom prst="rect">
            <a:avLst/>
          </a:prstGeom>
          <a:noFill/>
          <a:ln/>
        </p:spPr>
        <p:txBody>
          <a:bodyPr wrap="square" lIns="0" tIns="0" rIns="0" bIns="0" rtlCol="0" anchor="t"/>
          <a:lstStyle/>
          <a:p>
            <a:pPr marL="0" indent="0">
              <a:buNone/>
            </a:pPr>
            <a:r>
              <a:rPr lang="en-US" sz="2850" b="1" dirty="0">
                <a:solidFill>
                  <a:srgbClr val="00B0F0"/>
                </a:solidFill>
              </a:rPr>
              <a:t>0.432%</a:t>
            </a:r>
            <a:endParaRPr lang="en-US" sz="2850" dirty="0"/>
          </a:p>
        </p:txBody>
      </p:sp>
      <p:sp>
        <p:nvSpPr>
          <p:cNvPr id="8" name="Text 5"/>
          <p:cNvSpPr txBox="1"/>
          <p:nvPr/>
        </p:nvSpPr>
        <p:spPr>
          <a:xfrm>
            <a:off x="5943600" y="2075688"/>
            <a:ext cx="2487168" cy="731520"/>
          </a:xfrm>
          <a:prstGeom prst="rect">
            <a:avLst/>
          </a:prstGeom>
          <a:noFill/>
          <a:ln/>
        </p:spPr>
        <p:txBody>
          <a:bodyPr wrap="square" lIns="0" tIns="0" rIns="0" bIns="0" rtlCol="0" anchor="t"/>
          <a:lstStyle/>
          <a:p>
            <a:pPr marL="0" indent="0">
              <a:buNone/>
            </a:pPr>
            <a:r>
              <a:rPr lang="en-US" sz="1300" dirty="0">
                <a:solidFill>
                  <a:schemeClr val="tx1"/>
                </a:solidFill>
              </a:rPr>
              <a:t>of rows matched a class: 13,744 of 3,184,943</a:t>
            </a:r>
            <a:endParaRPr lang="en-US" sz="1300" dirty="0"/>
          </a:p>
        </p:txBody>
      </p:sp>
      <p:sp>
        <p:nvSpPr>
          <p:cNvPr id="9" name="Shape 6"/>
          <p:cNvSpPr/>
          <p:nvPr/>
        </p:nvSpPr>
        <p:spPr>
          <a:xfrm>
            <a:off x="5760720" y="3017520"/>
            <a:ext cx="2807208" cy="1554480"/>
          </a:xfrm>
          <a:prstGeom prst="rect">
            <a:avLst/>
          </a:prstGeom>
          <a:solidFill>
            <a:schemeClr val="bg2"/>
          </a:solidFill>
          <a:ln/>
        </p:spPr>
        <p:txBody>
          <a:bodyPr/>
          <a:lstStyle/>
          <a:p>
            <a:endParaRPr lang="en-US"/>
          </a:p>
        </p:txBody>
      </p:sp>
      <p:sp>
        <p:nvSpPr>
          <p:cNvPr id="10" name="Text 7"/>
          <p:cNvSpPr txBox="1"/>
          <p:nvPr/>
        </p:nvSpPr>
        <p:spPr>
          <a:xfrm>
            <a:off x="5943600" y="3182112"/>
            <a:ext cx="2441448" cy="548640"/>
          </a:xfrm>
          <a:prstGeom prst="rect">
            <a:avLst/>
          </a:prstGeom>
          <a:noFill/>
          <a:ln/>
        </p:spPr>
        <p:txBody>
          <a:bodyPr wrap="square" lIns="0" tIns="0" rIns="0" bIns="0" rtlCol="0" anchor="t"/>
          <a:lstStyle/>
          <a:p>
            <a:pPr marL="0" indent="0">
              <a:buNone/>
            </a:pPr>
            <a:r>
              <a:rPr lang="en-US" sz="2850" b="1" dirty="0">
                <a:solidFill>
                  <a:srgbClr val="00B0F0"/>
                </a:solidFill>
              </a:rPr>
              <a:t>914</a:t>
            </a:r>
            <a:endParaRPr lang="en-US" sz="2850" dirty="0"/>
          </a:p>
        </p:txBody>
      </p:sp>
      <p:sp>
        <p:nvSpPr>
          <p:cNvPr id="11" name="Text 8"/>
          <p:cNvSpPr txBox="1"/>
          <p:nvPr/>
        </p:nvSpPr>
        <p:spPr>
          <a:xfrm>
            <a:off x="5943600" y="3767328"/>
            <a:ext cx="2487168" cy="731520"/>
          </a:xfrm>
          <a:prstGeom prst="rect">
            <a:avLst/>
          </a:prstGeom>
          <a:noFill/>
          <a:ln/>
        </p:spPr>
        <p:txBody>
          <a:bodyPr wrap="square" lIns="0" tIns="0" rIns="0" bIns="0" rtlCol="0" anchor="t"/>
          <a:lstStyle/>
          <a:p>
            <a:pPr marL="0" indent="0">
              <a:buNone/>
            </a:pPr>
            <a:r>
              <a:rPr lang="en-US" sz="1300" dirty="0">
                <a:solidFill>
                  <a:schemeClr val="tx1"/>
                </a:solidFill>
              </a:rPr>
              <a:t>rows carried a live-format credential the policy would block</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566928" y="566928"/>
            <a:ext cx="8001000" cy="512064"/>
          </a:xfrm>
          <a:prstGeom prst="rect">
            <a:avLst/>
          </a:prstGeom>
          <a:noFill/>
          <a:ln/>
        </p:spPr>
        <p:txBody>
          <a:bodyPr wrap="square" lIns="0" tIns="0" rIns="0" bIns="0" rtlCol="0" anchor="ctr"/>
          <a:lstStyle/>
          <a:p>
            <a:pPr marL="0" indent="0">
              <a:buNone/>
            </a:pPr>
            <a:r>
              <a:rPr lang="en-US" sz="2850" b="1" dirty="0">
                <a:solidFill>
                  <a:schemeClr val="tx1"/>
                </a:solidFill>
              </a:rPr>
              <a:t>What it caught: credentials in agent context</a:t>
            </a:r>
            <a:endParaRPr lang="en-US" sz="2850" dirty="0"/>
          </a:p>
        </p:txBody>
      </p:sp>
      <p:sp>
        <p:nvSpPr>
          <p:cNvPr id="3" name="Text 1"/>
          <p:cNvSpPr txBox="1"/>
          <p:nvPr/>
        </p:nvSpPr>
        <p:spPr>
          <a:xfrm>
            <a:off x="7653528" y="4864608"/>
            <a:ext cx="914400" cy="219456"/>
          </a:xfrm>
          <a:prstGeom prst="rect">
            <a:avLst/>
          </a:prstGeom>
          <a:noFill/>
          <a:ln/>
        </p:spPr>
        <p:txBody>
          <a:bodyPr wrap="square" lIns="0" tIns="0" rIns="0" bIns="0" rtlCol="0" anchor="ctr"/>
          <a:lstStyle/>
          <a:p>
            <a:pPr marL="0" indent="0" algn="r">
              <a:buNone/>
            </a:pPr>
            <a:r>
              <a:rPr lang="en-US" sz="1130" dirty="0">
                <a:solidFill>
                  <a:schemeClr val="tx2"/>
                </a:solidFill>
                <a:latin typeface="JetBrains Mono" pitchFamily="34" charset="0"/>
                <a:ea typeface="JetBrains Mono" pitchFamily="34" charset="-122"/>
                <a:cs typeface="JetBrains Mono" pitchFamily="34" charset="-120"/>
              </a:rPr>
              <a:t>12 / 16</a:t>
            </a:r>
            <a:endParaRPr lang="en-US" sz="1130" dirty="0"/>
          </a:p>
        </p:txBody>
      </p:sp>
      <p:sp>
        <p:nvSpPr>
          <p:cNvPr id="4" name="JWT session tokens"/>
          <p:cNvSpPr/>
          <p:nvPr/>
        </p:nvSpPr>
        <p:spPr>
          <a:xfrm>
            <a:off x="566928" y="1371600"/>
            <a:ext cx="2569464" cy="2377440"/>
          </a:xfrm>
          <a:prstGeom prst="rect">
            <a:avLst/>
          </a:prstGeom>
          <a:solidFill>
            <a:schemeClr val="bg2"/>
          </a:solidFill>
          <a:ln/>
        </p:spPr>
        <p:txBody>
          <a:bodyPr/>
          <a:lstStyle/>
          <a:p>
            <a:endParaRPr lang="en-US"/>
          </a:p>
        </p:txBody>
      </p:sp>
      <p:sp>
        <p:nvSpPr>
          <p:cNvPr id="5" name="Text 3"/>
          <p:cNvSpPr txBox="1"/>
          <p:nvPr/>
        </p:nvSpPr>
        <p:spPr>
          <a:xfrm>
            <a:off x="749808" y="1536192"/>
            <a:ext cx="2240280" cy="548640"/>
          </a:xfrm>
          <a:prstGeom prst="rect">
            <a:avLst/>
          </a:prstGeom>
          <a:noFill/>
          <a:ln/>
        </p:spPr>
        <p:txBody>
          <a:bodyPr wrap="square" lIns="0" tIns="0" rIns="0" bIns="0" rtlCol="0" anchor="t"/>
          <a:lstStyle/>
          <a:p>
            <a:pPr marL="0" indent="0">
              <a:buNone/>
            </a:pPr>
            <a:r>
              <a:rPr lang="en-US" sz="2850" b="1" dirty="0">
                <a:solidFill>
                  <a:srgbClr val="00B0F0"/>
                </a:solidFill>
              </a:rPr>
              <a:t>509</a:t>
            </a:r>
            <a:endParaRPr lang="en-US" sz="2850" dirty="0"/>
          </a:p>
        </p:txBody>
      </p:sp>
      <p:sp>
        <p:nvSpPr>
          <p:cNvPr id="6" name="Text 4"/>
          <p:cNvSpPr txBox="1"/>
          <p:nvPr/>
        </p:nvSpPr>
        <p:spPr>
          <a:xfrm>
            <a:off x="749808" y="2148840"/>
            <a:ext cx="2240280" cy="320040"/>
          </a:xfrm>
          <a:prstGeom prst="rect">
            <a:avLst/>
          </a:prstGeom>
          <a:noFill/>
          <a:ln/>
        </p:spPr>
        <p:txBody>
          <a:bodyPr wrap="square" lIns="0" tIns="0" rIns="0" bIns="0" rtlCol="0" anchor="t"/>
          <a:lstStyle/>
          <a:p>
            <a:pPr marL="0" indent="0">
              <a:buNone/>
            </a:pPr>
            <a:r>
              <a:rPr lang="en-US" sz="1400" b="1" dirty="0">
                <a:solidFill>
                  <a:schemeClr val="tx1"/>
                </a:solidFill>
              </a:rPr>
              <a:t>JWT session tokens</a:t>
            </a:r>
            <a:endParaRPr lang="en-US" sz="1400" dirty="0"/>
          </a:p>
        </p:txBody>
      </p:sp>
      <p:sp>
        <p:nvSpPr>
          <p:cNvPr id="7" name="Text 5"/>
          <p:cNvSpPr txBox="1"/>
          <p:nvPr/>
        </p:nvSpPr>
        <p:spPr>
          <a:xfrm>
            <a:off x="749808" y="2514600"/>
            <a:ext cx="2240280" cy="1143000"/>
          </a:xfrm>
          <a:prstGeom prst="rect">
            <a:avLst/>
          </a:prstGeom>
          <a:noFill/>
          <a:ln/>
        </p:spPr>
        <p:txBody>
          <a:bodyPr wrap="square" lIns="0" tIns="0" rIns="0" bIns="0" rtlCol="0" anchor="t"/>
          <a:lstStyle/>
          <a:p>
            <a:pPr marL="0" indent="0">
              <a:buNone/>
            </a:pPr>
            <a:r>
              <a:rPr lang="en-US" sz="1200" dirty="0">
                <a:solidFill>
                  <a:schemeClr val="tx2"/>
                </a:solidFill>
              </a:rPr>
              <a:t>Bearer tokens in tool output, shell commands and notes, many from security-training exercises</a:t>
            </a:r>
            <a:endParaRPr lang="en-US" sz="1200" dirty="0"/>
          </a:p>
        </p:txBody>
      </p:sp>
      <p:sp>
        <p:nvSpPr>
          <p:cNvPr id="8" name="One service API key"/>
          <p:cNvSpPr/>
          <p:nvPr/>
        </p:nvSpPr>
        <p:spPr>
          <a:xfrm>
            <a:off x="3282696" y="1371600"/>
            <a:ext cx="2569464" cy="2377440"/>
          </a:xfrm>
          <a:prstGeom prst="rect">
            <a:avLst/>
          </a:prstGeom>
          <a:solidFill>
            <a:schemeClr val="bg2"/>
          </a:solidFill>
          <a:ln/>
        </p:spPr>
        <p:txBody>
          <a:bodyPr/>
          <a:lstStyle/>
          <a:p>
            <a:endParaRPr lang="en-US"/>
          </a:p>
        </p:txBody>
      </p:sp>
      <p:sp>
        <p:nvSpPr>
          <p:cNvPr id="9" name="Text 7"/>
          <p:cNvSpPr txBox="1"/>
          <p:nvPr/>
        </p:nvSpPr>
        <p:spPr>
          <a:xfrm>
            <a:off x="3465576" y="1536192"/>
            <a:ext cx="2240280" cy="548640"/>
          </a:xfrm>
          <a:prstGeom prst="rect">
            <a:avLst/>
          </a:prstGeom>
          <a:noFill/>
          <a:ln/>
        </p:spPr>
        <p:txBody>
          <a:bodyPr wrap="square" lIns="0" tIns="0" rIns="0" bIns="0" rtlCol="0" anchor="t"/>
          <a:lstStyle/>
          <a:p>
            <a:pPr marL="0" indent="0">
              <a:buNone/>
            </a:pPr>
            <a:r>
              <a:rPr lang="en-US" sz="2850" b="1" dirty="0">
                <a:solidFill>
                  <a:srgbClr val="00B0F0"/>
                </a:solidFill>
              </a:rPr>
              <a:t>280</a:t>
            </a:r>
            <a:endParaRPr lang="en-US" sz="2850" dirty="0"/>
          </a:p>
        </p:txBody>
      </p:sp>
      <p:sp>
        <p:nvSpPr>
          <p:cNvPr id="10" name="Text 8"/>
          <p:cNvSpPr txBox="1"/>
          <p:nvPr/>
        </p:nvSpPr>
        <p:spPr>
          <a:xfrm>
            <a:off x="3465576" y="2148840"/>
            <a:ext cx="2240280" cy="320040"/>
          </a:xfrm>
          <a:prstGeom prst="rect">
            <a:avLst/>
          </a:prstGeom>
          <a:noFill/>
          <a:ln/>
        </p:spPr>
        <p:txBody>
          <a:bodyPr wrap="square" lIns="0" tIns="0" rIns="0" bIns="0" rtlCol="0" anchor="t"/>
          <a:lstStyle/>
          <a:p>
            <a:pPr marL="0" indent="0">
              <a:buNone/>
            </a:pPr>
            <a:r>
              <a:rPr lang="en-US" sz="1400" b="1" dirty="0">
                <a:solidFill>
                  <a:schemeClr val="tx1"/>
                </a:solidFill>
              </a:rPr>
              <a:t>One service API key</a:t>
            </a:r>
            <a:endParaRPr lang="en-US" sz="1400" dirty="0"/>
          </a:p>
        </p:txBody>
      </p:sp>
      <p:sp>
        <p:nvSpPr>
          <p:cNvPr id="11" name="Text 9"/>
          <p:cNvSpPr txBox="1"/>
          <p:nvPr/>
        </p:nvSpPr>
        <p:spPr>
          <a:xfrm>
            <a:off x="3465576" y="2514600"/>
            <a:ext cx="2240280" cy="1143000"/>
          </a:xfrm>
          <a:prstGeom prst="rect">
            <a:avLst/>
          </a:prstGeom>
          <a:noFill/>
          <a:ln/>
        </p:spPr>
        <p:txBody>
          <a:bodyPr wrap="square" lIns="0" tIns="0" rIns="0" bIns="0" rtlCol="0" anchor="t"/>
          <a:lstStyle/>
          <a:p>
            <a:pPr marL="0" indent="0">
              <a:buNone/>
            </a:pPr>
            <a:r>
              <a:rPr lang="en-US" sz="1200" dirty="0">
                <a:solidFill>
                  <a:schemeClr val="tx2"/>
                </a:solidFill>
              </a:rPr>
              <a:t>A third-party key agents saved to memory and pasted into commands. Caught by the sk- pattern</a:t>
            </a:r>
            <a:endParaRPr lang="en-US" sz="1200" dirty="0"/>
          </a:p>
        </p:txBody>
      </p:sp>
      <p:sp>
        <p:nvSpPr>
          <p:cNvPr id="12" name="Private-key blocks"/>
          <p:cNvSpPr/>
          <p:nvPr/>
        </p:nvSpPr>
        <p:spPr>
          <a:xfrm>
            <a:off x="5998464" y="1371600"/>
            <a:ext cx="2569464" cy="2377440"/>
          </a:xfrm>
          <a:prstGeom prst="rect">
            <a:avLst/>
          </a:prstGeom>
          <a:solidFill>
            <a:schemeClr val="bg2"/>
          </a:solidFill>
          <a:ln/>
        </p:spPr>
        <p:txBody>
          <a:bodyPr/>
          <a:lstStyle/>
          <a:p>
            <a:endParaRPr lang="en-US"/>
          </a:p>
        </p:txBody>
      </p:sp>
      <p:sp>
        <p:nvSpPr>
          <p:cNvPr id="13" name="Text 11"/>
          <p:cNvSpPr txBox="1"/>
          <p:nvPr/>
        </p:nvSpPr>
        <p:spPr>
          <a:xfrm>
            <a:off x="6181344" y="1536192"/>
            <a:ext cx="2240280" cy="548640"/>
          </a:xfrm>
          <a:prstGeom prst="rect">
            <a:avLst/>
          </a:prstGeom>
          <a:noFill/>
          <a:ln/>
        </p:spPr>
        <p:txBody>
          <a:bodyPr wrap="square" lIns="0" tIns="0" rIns="0" bIns="0" rtlCol="0" anchor="t"/>
          <a:lstStyle/>
          <a:p>
            <a:pPr marL="0" indent="0">
              <a:buNone/>
            </a:pPr>
            <a:r>
              <a:rPr lang="en-US" sz="2850" b="1" dirty="0">
                <a:solidFill>
                  <a:srgbClr val="00B0F0"/>
                </a:solidFill>
              </a:rPr>
              <a:t>134</a:t>
            </a:r>
            <a:endParaRPr lang="en-US" sz="2850" dirty="0"/>
          </a:p>
        </p:txBody>
      </p:sp>
      <p:sp>
        <p:nvSpPr>
          <p:cNvPr id="14" name="Text 12"/>
          <p:cNvSpPr txBox="1"/>
          <p:nvPr/>
        </p:nvSpPr>
        <p:spPr>
          <a:xfrm>
            <a:off x="6181344" y="2148840"/>
            <a:ext cx="2240280" cy="320040"/>
          </a:xfrm>
          <a:prstGeom prst="rect">
            <a:avLst/>
          </a:prstGeom>
          <a:noFill/>
          <a:ln/>
        </p:spPr>
        <p:txBody>
          <a:bodyPr wrap="square" lIns="0" tIns="0" rIns="0" bIns="0" rtlCol="0" anchor="t"/>
          <a:lstStyle/>
          <a:p>
            <a:pPr marL="0" indent="0">
              <a:buNone/>
            </a:pPr>
            <a:r>
              <a:rPr lang="en-US" sz="1400" b="1" dirty="0">
                <a:solidFill>
                  <a:schemeClr val="tx1"/>
                </a:solidFill>
              </a:rPr>
              <a:t>Private-key blocks</a:t>
            </a:r>
            <a:endParaRPr lang="en-US" sz="1400" dirty="0"/>
          </a:p>
        </p:txBody>
      </p:sp>
      <p:sp>
        <p:nvSpPr>
          <p:cNvPr id="15" name="Text 13"/>
          <p:cNvSpPr txBox="1"/>
          <p:nvPr/>
        </p:nvSpPr>
        <p:spPr>
          <a:xfrm>
            <a:off x="6181344" y="2514600"/>
            <a:ext cx="2240280" cy="1143000"/>
          </a:xfrm>
          <a:prstGeom prst="rect">
            <a:avLst/>
          </a:prstGeom>
          <a:noFill/>
          <a:ln/>
        </p:spPr>
        <p:txBody>
          <a:bodyPr wrap="square" lIns="0" tIns="0" rIns="0" bIns="0" rtlCol="0" anchor="t"/>
          <a:lstStyle/>
          <a:p>
            <a:pPr marL="0" indent="0">
              <a:buNone/>
            </a:pPr>
            <a:r>
              <a:rPr lang="en-US" sz="1200" dirty="0">
                <a:solidFill>
                  <a:schemeClr val="tx2"/>
                </a:solidFill>
              </a:rPr>
              <a:t>Mostly a public demo key inside an open-source training app, plus blocks already redacted</a:t>
            </a:r>
            <a:endParaRPr lang="en-US" sz="1200" dirty="0"/>
          </a:p>
        </p:txBody>
      </p:sp>
      <p:sp>
        <p:nvSpPr>
          <p:cNvPr id="16" name="Text 14"/>
          <p:cNvSpPr txBox="1"/>
          <p:nvPr/>
        </p:nvSpPr>
        <p:spPr>
          <a:xfrm>
            <a:off x="566928" y="3931920"/>
            <a:ext cx="8001000" cy="548640"/>
          </a:xfrm>
          <a:prstGeom prst="rect">
            <a:avLst/>
          </a:prstGeom>
          <a:noFill/>
          <a:ln/>
        </p:spPr>
        <p:txBody>
          <a:bodyPr wrap="square" lIns="0" tIns="0" rIns="0" bIns="0" rtlCol="0" anchor="t"/>
          <a:lstStyle/>
          <a:p>
            <a:pPr marL="0" indent="0">
              <a:buNone/>
            </a:pPr>
            <a:r>
              <a:rPr lang="en-US" sz="1300" dirty="0">
                <a:solidFill>
                  <a:schemeClr val="tx2"/>
                </a:solidFill>
              </a:rPr>
              <a:t>452 of the 914 credential rows are agent memories: once a key lands in memory, it is re-sent with every later prompt. About 140 hits reviewed; 2 misfires (a hostname and an SSH algorithm name).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566928" y="566928"/>
            <a:ext cx="8001000" cy="512064"/>
          </a:xfrm>
          <a:prstGeom prst="rect">
            <a:avLst/>
          </a:prstGeom>
          <a:noFill/>
          <a:ln/>
        </p:spPr>
        <p:txBody>
          <a:bodyPr wrap="square" lIns="0" tIns="0" rIns="0" bIns="0" rtlCol="0" anchor="ctr"/>
          <a:lstStyle/>
          <a:p>
            <a:pPr marL="0" indent="0">
              <a:buNone/>
            </a:pPr>
            <a:r>
              <a:rPr lang="en-US" sz="2850" b="1" dirty="0">
                <a:solidFill>
                  <a:schemeClr val="tx1"/>
                </a:solidFill>
              </a:rPr>
              <a:t>What it got wrong: card numbers</a:t>
            </a:r>
            <a:endParaRPr lang="en-US" sz="2850" dirty="0"/>
          </a:p>
        </p:txBody>
      </p:sp>
      <p:sp>
        <p:nvSpPr>
          <p:cNvPr id="3" name="Text 1"/>
          <p:cNvSpPr txBox="1"/>
          <p:nvPr/>
        </p:nvSpPr>
        <p:spPr>
          <a:xfrm>
            <a:off x="7653528" y="4864608"/>
            <a:ext cx="914400" cy="219456"/>
          </a:xfrm>
          <a:prstGeom prst="rect">
            <a:avLst/>
          </a:prstGeom>
          <a:noFill/>
          <a:ln/>
        </p:spPr>
        <p:txBody>
          <a:bodyPr wrap="square" lIns="0" tIns="0" rIns="0" bIns="0" rtlCol="0" anchor="ctr"/>
          <a:lstStyle/>
          <a:p>
            <a:pPr marL="0" indent="0" algn="r">
              <a:buNone/>
            </a:pPr>
            <a:r>
              <a:rPr lang="en-US" sz="1130" dirty="0">
                <a:solidFill>
                  <a:schemeClr val="tx2"/>
                </a:solidFill>
                <a:latin typeface="JetBrains Mono" pitchFamily="34" charset="0"/>
                <a:ea typeface="JetBrains Mono" pitchFamily="34" charset="-122"/>
                <a:cs typeface="JetBrains Mono" pitchFamily="34" charset="-120"/>
              </a:rPr>
              <a:t>13 / 16</a:t>
            </a:r>
            <a:endParaRPr lang="en-US" sz="1130" dirty="0"/>
          </a:p>
        </p:txBody>
      </p:sp>
      <p:sp>
        <p:nvSpPr>
          <p:cNvPr id="4" name="Card rule chart"/>
          <p:cNvSpPr/>
          <p:nvPr/>
        </p:nvSpPr>
        <p:spPr>
          <a:xfrm>
            <a:off x="566928" y="1325880"/>
            <a:ext cx="4983480" cy="3246120"/>
          </a:xfrm>
          <a:prstGeom prst="rect">
            <a:avLst/>
          </a:prstGeom>
          <a:solidFill>
            <a:schemeClr val="bg2"/>
          </a:solidFill>
          <a:ln/>
        </p:spPr>
        <p:txBody>
          <a:bodyPr/>
          <a:lstStyle/>
          <a:p>
            <a:endParaRPr lang="en-US"/>
          </a:p>
        </p:txBody>
      </p:sp>
      <p:graphicFrame>
        <p:nvGraphicFramePr>
          <p:cNvPr id="5" name="Chart 0"/>
          <p:cNvGraphicFramePr/>
          <p:nvPr/>
        </p:nvGraphicFramePr>
        <p:xfrm>
          <a:off x="685800" y="1417320"/>
          <a:ext cx="475488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760720" y="1325880"/>
            <a:ext cx="2807208" cy="1554480"/>
          </a:xfrm>
          <a:prstGeom prst="rect">
            <a:avLst/>
          </a:prstGeom>
          <a:solidFill>
            <a:schemeClr val="bg2"/>
          </a:solidFill>
          <a:ln/>
        </p:spPr>
        <p:txBody>
          <a:bodyPr/>
          <a:lstStyle/>
          <a:p>
            <a:endParaRPr lang="en-US"/>
          </a:p>
        </p:txBody>
      </p:sp>
      <p:sp>
        <p:nvSpPr>
          <p:cNvPr id="7" name="Text 4"/>
          <p:cNvSpPr txBox="1"/>
          <p:nvPr/>
        </p:nvSpPr>
        <p:spPr>
          <a:xfrm>
            <a:off x="5943600" y="1490472"/>
            <a:ext cx="2441448" cy="548640"/>
          </a:xfrm>
          <a:prstGeom prst="rect">
            <a:avLst/>
          </a:prstGeom>
          <a:noFill/>
          <a:ln/>
        </p:spPr>
        <p:txBody>
          <a:bodyPr wrap="square" lIns="0" tIns="0" rIns="0" bIns="0" rtlCol="0" anchor="t"/>
          <a:lstStyle/>
          <a:p>
            <a:pPr marL="0" indent="0">
              <a:buNone/>
            </a:pPr>
            <a:r>
              <a:rPr lang="en-US" sz="2850" b="1" dirty="0">
                <a:solidFill>
                  <a:srgbClr val="F5B83D"/>
                </a:solidFill>
              </a:rPr>
              <a:t>0%</a:t>
            </a:r>
            <a:endParaRPr lang="en-US" sz="2850" dirty="0"/>
          </a:p>
        </p:txBody>
      </p:sp>
      <p:sp>
        <p:nvSpPr>
          <p:cNvPr id="8" name="Text 5"/>
          <p:cNvSpPr txBox="1"/>
          <p:nvPr/>
        </p:nvSpPr>
        <p:spPr>
          <a:xfrm>
            <a:off x="5943600" y="2075688"/>
            <a:ext cx="2487168" cy="731520"/>
          </a:xfrm>
          <a:prstGeom prst="rect">
            <a:avLst/>
          </a:prstGeom>
          <a:noFill/>
          <a:ln/>
        </p:spPr>
        <p:txBody>
          <a:bodyPr wrap="square" lIns="0" tIns="0" rIns="0" bIns="0" rtlCol="0" anchor="t"/>
          <a:lstStyle/>
          <a:p>
            <a:pPr marL="0" indent="0">
              <a:buNone/>
            </a:pPr>
            <a:r>
              <a:rPr lang="en-US" sz="1300" dirty="0">
                <a:solidFill>
                  <a:schemeClr val="tx1"/>
                </a:solidFill>
              </a:rPr>
              <a:t>false positives on the synthetic eval corpus</a:t>
            </a:r>
            <a:endParaRPr lang="en-US" sz="1300" dirty="0"/>
          </a:p>
        </p:txBody>
      </p:sp>
      <p:sp>
        <p:nvSpPr>
          <p:cNvPr id="9" name="Shape 6"/>
          <p:cNvSpPr/>
          <p:nvPr/>
        </p:nvSpPr>
        <p:spPr>
          <a:xfrm>
            <a:off x="5760720" y="3017520"/>
            <a:ext cx="2807208" cy="1554480"/>
          </a:xfrm>
          <a:prstGeom prst="rect">
            <a:avLst/>
          </a:prstGeom>
          <a:solidFill>
            <a:schemeClr val="bg2"/>
          </a:solidFill>
          <a:ln/>
        </p:spPr>
        <p:txBody>
          <a:bodyPr/>
          <a:lstStyle/>
          <a:p>
            <a:endParaRPr lang="en-US"/>
          </a:p>
        </p:txBody>
      </p:sp>
      <p:sp>
        <p:nvSpPr>
          <p:cNvPr id="10" name="Text 7"/>
          <p:cNvSpPr txBox="1"/>
          <p:nvPr/>
        </p:nvSpPr>
        <p:spPr>
          <a:xfrm>
            <a:off x="5943600" y="3182112"/>
            <a:ext cx="2441448" cy="548640"/>
          </a:xfrm>
          <a:prstGeom prst="rect">
            <a:avLst/>
          </a:prstGeom>
          <a:noFill/>
          <a:ln/>
        </p:spPr>
        <p:txBody>
          <a:bodyPr wrap="square" lIns="0" tIns="0" rIns="0" bIns="0" rtlCol="0" anchor="t"/>
          <a:lstStyle/>
          <a:p>
            <a:pPr marL="0" indent="0">
              <a:buNone/>
            </a:pPr>
            <a:r>
              <a:rPr lang="en-US" sz="2850" b="1" dirty="0">
                <a:solidFill>
                  <a:srgbClr val="F5B83D"/>
                </a:solidFill>
              </a:rPr>
              <a:t>12,793</a:t>
            </a:r>
            <a:endParaRPr lang="en-US" sz="2850" dirty="0"/>
          </a:p>
        </p:txBody>
      </p:sp>
      <p:sp>
        <p:nvSpPr>
          <p:cNvPr id="11" name="Text 8"/>
          <p:cNvSpPr txBox="1"/>
          <p:nvPr/>
        </p:nvSpPr>
        <p:spPr>
          <a:xfrm>
            <a:off x="5943600" y="3767328"/>
            <a:ext cx="2487168" cy="731520"/>
          </a:xfrm>
          <a:prstGeom prst="rect">
            <a:avLst/>
          </a:prstGeom>
          <a:noFill/>
          <a:ln/>
        </p:spPr>
        <p:txBody>
          <a:bodyPr wrap="square" lIns="0" tIns="0" rIns="0" bIns="0" rtlCol="0" anchor="t"/>
          <a:lstStyle/>
          <a:p>
            <a:pPr marL="0" indent="0">
              <a:buNone/>
            </a:pPr>
            <a:r>
              <a:rPr lang="en-US" sz="1300" dirty="0">
                <a:solidFill>
                  <a:schemeClr val="tx1"/>
                </a:solidFill>
              </a:rPr>
              <a:t>rows held as card numbers (0.40% of all rows); 0 real cards in 100 reviewed</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566928" y="566928"/>
            <a:ext cx="8001000" cy="512064"/>
          </a:xfrm>
          <a:prstGeom prst="rect">
            <a:avLst/>
          </a:prstGeom>
          <a:noFill/>
          <a:ln/>
        </p:spPr>
        <p:txBody>
          <a:bodyPr wrap="square" lIns="0" tIns="0" rIns="0" bIns="0" rtlCol="0" anchor="ctr"/>
          <a:lstStyle/>
          <a:p>
            <a:pPr marL="0" indent="0">
              <a:buNone/>
            </a:pPr>
            <a:r>
              <a:rPr lang="en-US" sz="2850" b="1" dirty="0">
                <a:solidFill>
                  <a:schemeClr val="tx1"/>
                </a:solidFill>
              </a:rPr>
              <a:t>Speed on real text</a:t>
            </a:r>
            <a:endParaRPr lang="en-US" sz="2850" dirty="0"/>
          </a:p>
        </p:txBody>
      </p:sp>
      <p:sp>
        <p:nvSpPr>
          <p:cNvPr id="3" name="Text 1"/>
          <p:cNvSpPr txBox="1"/>
          <p:nvPr/>
        </p:nvSpPr>
        <p:spPr>
          <a:xfrm>
            <a:off x="7653528" y="4864608"/>
            <a:ext cx="914400" cy="219456"/>
          </a:xfrm>
          <a:prstGeom prst="rect">
            <a:avLst/>
          </a:prstGeom>
          <a:noFill/>
          <a:ln/>
        </p:spPr>
        <p:txBody>
          <a:bodyPr wrap="square" lIns="0" tIns="0" rIns="0" bIns="0" rtlCol="0" anchor="ctr"/>
          <a:lstStyle/>
          <a:p>
            <a:pPr marL="0" indent="0" algn="r">
              <a:buNone/>
            </a:pPr>
            <a:r>
              <a:rPr lang="en-US" sz="1130" dirty="0">
                <a:solidFill>
                  <a:schemeClr val="tx2"/>
                </a:solidFill>
                <a:latin typeface="JetBrains Mono" pitchFamily="34" charset="0"/>
                <a:ea typeface="JetBrains Mono" pitchFamily="34" charset="-122"/>
                <a:cs typeface="JetBrains Mono" pitchFamily="34" charset="-120"/>
              </a:rPr>
              <a:t>14 / 16</a:t>
            </a:r>
            <a:endParaRPr lang="en-US" sz="113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325880"/>
          <a:ext cx="8001000" cy="1920240"/>
        </p:xfrm>
        <a:graphic>
          <a:graphicData uri="http://schemas.openxmlformats.org/drawingml/2006/table">
            <a:tbl>
              <a:tblPr/>
              <a:tblGrid>
                <a:gridCol w="25146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tblGrid>
              <a:tr h="384048">
                <a:tc>
                  <a:txBody>
                    <a:bodyPr/>
                    <a:lstStyle/>
                    <a:p>
                      <a:pPr marL="0" indent="0">
                        <a:buNone/>
                      </a:pPr>
                      <a:r>
                        <a:rPr lang="en-US" sz="1200" b="1" dirty="0">
                          <a:solidFill>
                            <a:schemeClr val="tx2"/>
                          </a:solidFill>
                          <a:latin typeface="IBM Plex Sans" pitchFamily="34" charset="0"/>
                          <a:ea typeface="IBM Plex Sans" pitchFamily="34" charset="-122"/>
                          <a:cs typeface="IBM Plex Sans" pitchFamily="34" charset="-120"/>
                        </a:rPr>
                        <a:t>Table</a:t>
                      </a:r>
                      <a:endParaRPr lang="en-US" sz="1200" dirty="0">
                        <a:latin typeface="IBM Plex Sans" charset="0"/>
                        <a:ea typeface="IBM Plex Sans" charset="0"/>
                        <a:cs typeface="IBM Plex Sans" charset="0"/>
                      </a:endParaRPr>
                    </a:p>
                  </a:txBody>
                  <a:tcPr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chemeClr val="bg2"/>
                    </a:solidFill>
                  </a:tcPr>
                </a:tc>
                <a:tc>
                  <a:txBody>
                    <a:bodyPr/>
                    <a:lstStyle/>
                    <a:p>
                      <a:pPr marL="0" indent="0">
                        <a:buNone/>
                      </a:pPr>
                      <a:r>
                        <a:rPr lang="en-US" sz="1200" b="1" dirty="0">
                          <a:solidFill>
                            <a:schemeClr val="tx2"/>
                          </a:solidFill>
                          <a:latin typeface="IBM Plex Sans" pitchFamily="34" charset="0"/>
                          <a:ea typeface="IBM Plex Sans" pitchFamily="34" charset="-122"/>
                          <a:cs typeface="IBM Plex Sans" pitchFamily="34" charset="-120"/>
                        </a:rPr>
                        <a:t>Rows</a:t>
                      </a:r>
                      <a:endParaRPr lang="en-US" sz="1200" dirty="0">
                        <a:latin typeface="IBM Plex Sans" charset="0"/>
                        <a:ea typeface="IBM Plex Sans" charset="0"/>
                        <a:cs typeface="IBM Plex Sans" charset="0"/>
                      </a:endParaRPr>
                    </a:p>
                  </a:txBody>
                  <a:tcPr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chemeClr val="bg2"/>
                    </a:solidFill>
                  </a:tcPr>
                </a:tc>
                <a:tc>
                  <a:txBody>
                    <a:bodyPr/>
                    <a:lstStyle/>
                    <a:p>
                      <a:pPr marL="0" indent="0">
                        <a:buNone/>
                      </a:pPr>
                      <a:r>
                        <a:rPr lang="en-US" sz="1200" b="1" dirty="0">
                          <a:solidFill>
                            <a:schemeClr val="tx2"/>
                          </a:solidFill>
                          <a:latin typeface="IBM Plex Sans" pitchFamily="34" charset="0"/>
                          <a:ea typeface="IBM Plex Sans" pitchFamily="34" charset="-122"/>
                          <a:cs typeface="IBM Plex Sans" pitchFamily="34" charset="-120"/>
                        </a:rPr>
                        <a:t>Text</a:t>
                      </a:r>
                      <a:endParaRPr lang="en-US" sz="1200" dirty="0">
                        <a:latin typeface="IBM Plex Sans" charset="0"/>
                        <a:ea typeface="IBM Plex Sans" charset="0"/>
                        <a:cs typeface="IBM Plex Sans" charset="0"/>
                      </a:endParaRPr>
                    </a:p>
                  </a:txBody>
                  <a:tcPr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chemeClr val="bg2"/>
                    </a:solidFill>
                  </a:tcPr>
                </a:tc>
                <a:tc>
                  <a:txBody>
                    <a:bodyPr/>
                    <a:lstStyle/>
                    <a:p>
                      <a:pPr marL="0" indent="0">
                        <a:buNone/>
                      </a:pPr>
                      <a:r>
                        <a:rPr lang="en-US" sz="1200" b="1" dirty="0">
                          <a:solidFill>
                            <a:schemeClr val="tx2"/>
                          </a:solidFill>
                          <a:latin typeface="IBM Plex Sans" pitchFamily="34" charset="0"/>
                          <a:ea typeface="IBM Plex Sans" pitchFamily="34" charset="-122"/>
                          <a:cs typeface="IBM Plex Sans" pitchFamily="34" charset="-120"/>
                        </a:rPr>
                        <a:t>p50</a:t>
                      </a:r>
                      <a:endParaRPr lang="en-US" sz="1200" dirty="0">
                        <a:latin typeface="IBM Plex Sans" charset="0"/>
                        <a:ea typeface="IBM Plex Sans" charset="0"/>
                        <a:cs typeface="IBM Plex Sans" charset="0"/>
                      </a:endParaRPr>
                    </a:p>
                  </a:txBody>
                  <a:tcPr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chemeClr val="bg2"/>
                    </a:solidFill>
                  </a:tcPr>
                </a:tc>
                <a:tc>
                  <a:txBody>
                    <a:bodyPr/>
                    <a:lstStyle/>
                    <a:p>
                      <a:pPr marL="0" indent="0">
                        <a:buNone/>
                      </a:pPr>
                      <a:r>
                        <a:rPr lang="en-US" sz="1200" b="1" dirty="0">
                          <a:solidFill>
                            <a:schemeClr val="tx2"/>
                          </a:solidFill>
                          <a:latin typeface="IBM Plex Sans" pitchFamily="34" charset="0"/>
                          <a:ea typeface="IBM Plex Sans" pitchFamily="34" charset="-122"/>
                          <a:cs typeface="IBM Plex Sans" pitchFamily="34" charset="-120"/>
                        </a:rPr>
                        <a:t>p95</a:t>
                      </a:r>
                      <a:endParaRPr lang="en-US" sz="1200" dirty="0">
                        <a:latin typeface="IBM Plex Sans" charset="0"/>
                        <a:ea typeface="IBM Plex Sans" charset="0"/>
                        <a:cs typeface="IBM Plex Sans" charset="0"/>
                      </a:endParaRPr>
                    </a:p>
                  </a:txBody>
                  <a:tcPr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chemeClr val="bg2"/>
                    </a:solidFill>
                  </a:tcPr>
                </a:tc>
                <a:tc>
                  <a:txBody>
                    <a:bodyPr/>
                    <a:lstStyle/>
                    <a:p>
                      <a:pPr marL="0" indent="0">
                        <a:buNone/>
                      </a:pPr>
                      <a:r>
                        <a:rPr lang="en-US" sz="1200" b="1" dirty="0">
                          <a:solidFill>
                            <a:schemeClr val="tx2"/>
                          </a:solidFill>
                          <a:latin typeface="IBM Plex Sans" pitchFamily="34" charset="0"/>
                          <a:ea typeface="IBM Plex Sans" pitchFamily="34" charset="-122"/>
                          <a:cs typeface="IBM Plex Sans" pitchFamily="34" charset="-120"/>
                        </a:rPr>
                        <a:t>p99</a:t>
                      </a:r>
                      <a:endParaRPr lang="en-US" sz="1200" dirty="0">
                        <a:latin typeface="IBM Plex Sans" charset="0"/>
                        <a:ea typeface="IBM Plex Sans" charset="0"/>
                        <a:cs typeface="IBM Plex Sans" charset="0"/>
                      </a:endParaRPr>
                    </a:p>
                  </a:txBody>
                  <a:tcPr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384048">
                <a:tc>
                  <a:txBody>
                    <a:bodyPr/>
                    <a:lstStyle/>
                    <a:p>
                      <a:pPr marL="0" indent="0">
                        <a:buNone/>
                      </a:pPr>
                      <a:r>
                        <a:rPr lang="en-US" sz="1200" dirty="0">
                          <a:solidFill>
                            <a:schemeClr val="tx1"/>
                          </a:solidFill>
                          <a:latin typeface="IBM Plex Sans" pitchFamily="34" charset="0"/>
                          <a:ea typeface="IBM Plex Sans" pitchFamily="34" charset="-122"/>
                          <a:cs typeface="IBM Plex Sans" pitchFamily="34" charset="-120"/>
                        </a:rPr>
                        <a:t>Claude Code stream</a:t>
                      </a:r>
                      <a:endParaRPr lang="en-US" sz="1200" dirty="0">
                        <a:latin typeface="IBM Plex Sans" charset="0"/>
                        <a:ea typeface="IBM Plex Sans" charset="0"/>
                        <a:cs typeface="IBM Plex Sans" charset="0"/>
                      </a:endParaRPr>
                    </a:p>
                  </a:txBody>
                  <a:tcPr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tcPr>
                </a:tc>
                <a:tc>
                  <a:txBody>
                    <a:bodyPr/>
                    <a:lstStyle/>
                    <a:p>
                      <a:pPr marL="0" indent="0" algn="r">
                        <a:buNone/>
                      </a:pPr>
                      <a:r>
                        <a:rPr lang="en-US" sz="1200" dirty="0">
                          <a:solidFill>
                            <a:schemeClr val="tx1"/>
                          </a:solidFill>
                          <a:latin typeface="IBM Plex Sans" pitchFamily="34" charset="0"/>
                          <a:ea typeface="IBM Plex Sans" pitchFamily="34" charset="-122"/>
                          <a:cs typeface="IBM Plex Sans" pitchFamily="34" charset="-120"/>
                        </a:rPr>
                        <a:t>244,820</a:t>
                      </a:r>
                      <a:endParaRPr lang="en-US" sz="1200" dirty="0">
                        <a:latin typeface="IBM Plex Sans" charset="0"/>
                        <a:ea typeface="IBM Plex Sans" charset="0"/>
                        <a:cs typeface="IBM Plex Sans" charset="0"/>
                      </a:endParaRPr>
                    </a:p>
                  </a:txBody>
                  <a:tcPr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tcPr>
                </a:tc>
                <a:tc>
                  <a:txBody>
                    <a:bodyPr/>
                    <a:lstStyle/>
                    <a:p>
                      <a:pPr marL="0" indent="0" algn="r">
                        <a:buNone/>
                      </a:pPr>
                      <a:r>
                        <a:rPr lang="en-US" sz="1200" dirty="0">
                          <a:solidFill>
                            <a:schemeClr val="tx1"/>
                          </a:solidFill>
                          <a:latin typeface="IBM Plex Sans" pitchFamily="34" charset="0"/>
                          <a:ea typeface="IBM Plex Sans" pitchFamily="34" charset="-122"/>
                          <a:cs typeface="IBM Plex Sans" pitchFamily="34" charset="-120"/>
                        </a:rPr>
                        <a:t>340 MB</a:t>
                      </a:r>
                      <a:endParaRPr lang="en-US" sz="1200" dirty="0">
                        <a:latin typeface="IBM Plex Sans" charset="0"/>
                        <a:ea typeface="IBM Plex Sans" charset="0"/>
                        <a:cs typeface="IBM Plex Sans" charset="0"/>
                      </a:endParaRPr>
                    </a:p>
                  </a:txBody>
                  <a:tcPr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tcPr>
                </a:tc>
                <a:tc>
                  <a:txBody>
                    <a:bodyPr/>
                    <a:lstStyle/>
                    <a:p>
                      <a:pPr marL="0" indent="0" algn="r">
                        <a:buNone/>
                      </a:pPr>
                      <a:r>
                        <a:rPr lang="en-US" sz="1200" dirty="0">
                          <a:solidFill>
                            <a:schemeClr val="tx1"/>
                          </a:solidFill>
                          <a:latin typeface="IBM Plex Sans" pitchFamily="34" charset="0"/>
                          <a:ea typeface="IBM Plex Sans" pitchFamily="34" charset="-122"/>
                          <a:cs typeface="IBM Plex Sans" pitchFamily="34" charset="-120"/>
                        </a:rPr>
                        <a:t>65 µs</a:t>
                      </a:r>
                      <a:endParaRPr lang="en-US" sz="1200" dirty="0">
                        <a:latin typeface="IBM Plex Sans" charset="0"/>
                        <a:ea typeface="IBM Plex Sans" charset="0"/>
                        <a:cs typeface="IBM Plex Sans" charset="0"/>
                      </a:endParaRPr>
                    </a:p>
                  </a:txBody>
                  <a:tcPr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tcPr>
                </a:tc>
                <a:tc>
                  <a:txBody>
                    <a:bodyPr/>
                    <a:lstStyle/>
                    <a:p>
                      <a:pPr marL="0" indent="0" algn="r">
                        <a:buNone/>
                      </a:pPr>
                      <a:r>
                        <a:rPr lang="en-US" sz="1200" b="1" dirty="0">
                          <a:solidFill>
                            <a:srgbClr val="00B0F0"/>
                          </a:solidFill>
                          <a:latin typeface="IBM Plex Sans" pitchFamily="34" charset="0"/>
                          <a:ea typeface="IBM Plex Sans" pitchFamily="34" charset="-122"/>
                          <a:cs typeface="IBM Plex Sans" pitchFamily="34" charset="-120"/>
                        </a:rPr>
                        <a:t>2.2 ms</a:t>
                      </a:r>
                      <a:endParaRPr lang="en-US" sz="1200" dirty="0">
                        <a:latin typeface="IBM Plex Sans" charset="0"/>
                        <a:ea typeface="IBM Plex Sans" charset="0"/>
                        <a:cs typeface="IBM Plex Sans" charset="0"/>
                      </a:endParaRPr>
                    </a:p>
                  </a:txBody>
                  <a:tcPr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tcPr>
                </a:tc>
                <a:tc>
                  <a:txBody>
                    <a:bodyPr/>
                    <a:lstStyle/>
                    <a:p>
                      <a:pPr marL="0" indent="0" algn="r">
                        <a:buNone/>
                      </a:pPr>
                      <a:r>
                        <a:rPr lang="en-US" sz="1200" dirty="0">
                          <a:solidFill>
                            <a:schemeClr val="tx1"/>
                          </a:solidFill>
                          <a:latin typeface="IBM Plex Sans" pitchFamily="34" charset="0"/>
                          <a:ea typeface="IBM Plex Sans" pitchFamily="34" charset="-122"/>
                          <a:cs typeface="IBM Plex Sans" pitchFamily="34" charset="-120"/>
                        </a:rPr>
                        <a:t>4.1 ms</a:t>
                      </a:r>
                      <a:endParaRPr lang="en-US" sz="1200" dirty="0">
                        <a:latin typeface="IBM Plex Sans" charset="0"/>
                        <a:ea typeface="IBM Plex Sans" charset="0"/>
                        <a:cs typeface="IBM Plex Sans" charset="0"/>
                      </a:endParaRPr>
                    </a:p>
                  </a:txBody>
                  <a:tcPr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200" dirty="0">
                          <a:solidFill>
                            <a:schemeClr val="tx1"/>
                          </a:solidFill>
                          <a:latin typeface="IBM Plex Sans" pitchFamily="34" charset="0"/>
                          <a:ea typeface="IBM Plex Sans" pitchFamily="34" charset="-122"/>
                          <a:cs typeface="IBM Plex Sans" pitchFamily="34" charset="-120"/>
                        </a:rPr>
                        <a:t>Group chat</a:t>
                      </a:r>
                      <a:endParaRPr lang="en-US" sz="1200" dirty="0">
                        <a:latin typeface="IBM Plex Sans" charset="0"/>
                        <a:ea typeface="IBM Plex Sans" charset="0"/>
                        <a:cs typeface="IBM Plex Sans" charset="0"/>
                      </a:endParaRPr>
                    </a:p>
                  </a:txBody>
                  <a:tcPr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tcPr>
                </a:tc>
                <a:tc>
                  <a:txBody>
                    <a:bodyPr/>
                    <a:lstStyle/>
                    <a:p>
                      <a:pPr marL="0" indent="0" algn="r">
                        <a:buNone/>
                      </a:pPr>
                      <a:r>
                        <a:rPr lang="en-US" sz="1200" dirty="0">
                          <a:solidFill>
                            <a:schemeClr val="tx1"/>
                          </a:solidFill>
                          <a:latin typeface="IBM Plex Sans" pitchFamily="34" charset="0"/>
                          <a:ea typeface="IBM Plex Sans" pitchFamily="34" charset="-122"/>
                          <a:cs typeface="IBM Plex Sans" pitchFamily="34" charset="-120"/>
                        </a:rPr>
                        <a:t>183,485</a:t>
                      </a:r>
                      <a:endParaRPr lang="en-US" sz="1200" dirty="0">
                        <a:latin typeface="IBM Plex Sans" charset="0"/>
                        <a:ea typeface="IBM Plex Sans" charset="0"/>
                        <a:cs typeface="IBM Plex Sans" charset="0"/>
                      </a:endParaRPr>
                    </a:p>
                  </a:txBody>
                  <a:tcPr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tcPr>
                </a:tc>
                <a:tc>
                  <a:txBody>
                    <a:bodyPr/>
                    <a:lstStyle/>
                    <a:p>
                      <a:pPr marL="0" indent="0" algn="r">
                        <a:buNone/>
                      </a:pPr>
                      <a:r>
                        <a:rPr lang="en-US" sz="1200" dirty="0">
                          <a:solidFill>
                            <a:schemeClr val="tx1"/>
                          </a:solidFill>
                          <a:latin typeface="IBM Plex Sans" pitchFamily="34" charset="0"/>
                          <a:ea typeface="IBM Plex Sans" pitchFamily="34" charset="-122"/>
                          <a:cs typeface="IBM Plex Sans" pitchFamily="34" charset="-120"/>
                        </a:rPr>
                        <a:t>91 MB</a:t>
                      </a:r>
                      <a:endParaRPr lang="en-US" sz="1200" dirty="0">
                        <a:latin typeface="IBM Plex Sans" charset="0"/>
                        <a:ea typeface="IBM Plex Sans" charset="0"/>
                        <a:cs typeface="IBM Plex Sans" charset="0"/>
                      </a:endParaRPr>
                    </a:p>
                  </a:txBody>
                  <a:tcPr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tcPr>
                </a:tc>
                <a:tc>
                  <a:txBody>
                    <a:bodyPr/>
                    <a:lstStyle/>
                    <a:p>
                      <a:pPr marL="0" indent="0" algn="r">
                        <a:buNone/>
                      </a:pPr>
                      <a:r>
                        <a:rPr lang="en-US" sz="1200" dirty="0">
                          <a:solidFill>
                            <a:schemeClr val="tx1"/>
                          </a:solidFill>
                          <a:latin typeface="IBM Plex Sans" pitchFamily="34" charset="0"/>
                          <a:ea typeface="IBM Plex Sans" pitchFamily="34" charset="-122"/>
                          <a:cs typeface="IBM Plex Sans" pitchFamily="34" charset="-120"/>
                        </a:rPr>
                        <a:t>132 µs</a:t>
                      </a:r>
                      <a:endParaRPr lang="en-US" sz="1200" dirty="0">
                        <a:latin typeface="IBM Plex Sans" charset="0"/>
                        <a:ea typeface="IBM Plex Sans" charset="0"/>
                        <a:cs typeface="IBM Plex Sans" charset="0"/>
                      </a:endParaRPr>
                    </a:p>
                  </a:txBody>
                  <a:tcPr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tcPr>
                </a:tc>
                <a:tc>
                  <a:txBody>
                    <a:bodyPr/>
                    <a:lstStyle/>
                    <a:p>
                      <a:pPr marL="0" indent="0" algn="r">
                        <a:buNone/>
                      </a:pPr>
                      <a:r>
                        <a:rPr lang="en-US" sz="1200" b="1" dirty="0">
                          <a:solidFill>
                            <a:srgbClr val="00B0F0"/>
                          </a:solidFill>
                          <a:latin typeface="IBM Plex Sans" pitchFamily="34" charset="0"/>
                          <a:ea typeface="IBM Plex Sans" pitchFamily="34" charset="-122"/>
                          <a:cs typeface="IBM Plex Sans" pitchFamily="34" charset="-120"/>
                        </a:rPr>
                        <a:t>502 µs</a:t>
                      </a:r>
                      <a:endParaRPr lang="en-US" sz="1200" dirty="0">
                        <a:latin typeface="IBM Plex Sans" charset="0"/>
                        <a:ea typeface="IBM Plex Sans" charset="0"/>
                        <a:cs typeface="IBM Plex Sans" charset="0"/>
                      </a:endParaRPr>
                    </a:p>
                  </a:txBody>
                  <a:tcPr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tcPr>
                </a:tc>
                <a:tc>
                  <a:txBody>
                    <a:bodyPr/>
                    <a:lstStyle/>
                    <a:p>
                      <a:pPr marL="0" indent="0" algn="r">
                        <a:buNone/>
                      </a:pPr>
                      <a:r>
                        <a:rPr lang="en-US" sz="1200" dirty="0">
                          <a:solidFill>
                            <a:schemeClr val="tx1"/>
                          </a:solidFill>
                          <a:latin typeface="IBM Plex Sans" pitchFamily="34" charset="0"/>
                          <a:ea typeface="IBM Plex Sans" pitchFamily="34" charset="-122"/>
                          <a:cs typeface="IBM Plex Sans" pitchFamily="34" charset="-120"/>
                        </a:rPr>
                        <a:t>986 µs</a:t>
                      </a:r>
                      <a:endParaRPr lang="en-US" sz="1200" dirty="0">
                        <a:latin typeface="IBM Plex Sans" charset="0"/>
                        <a:ea typeface="IBM Plex Sans" charset="0"/>
                        <a:cs typeface="IBM Plex Sans" charset="0"/>
                      </a:endParaRPr>
                    </a:p>
                  </a:txBody>
                  <a:tcPr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200" dirty="0">
                          <a:solidFill>
                            <a:schemeClr val="tx1"/>
                          </a:solidFill>
                          <a:latin typeface="IBM Plex Sans" pitchFamily="34" charset="0"/>
                          <a:ea typeface="IBM Plex Sans" pitchFamily="34" charset="-122"/>
                          <a:cs typeface="IBM Plex Sans" pitchFamily="34" charset="-120"/>
                        </a:rPr>
                        <a:t>Computer-use output</a:t>
                      </a:r>
                      <a:endParaRPr lang="en-US" sz="1200" dirty="0">
                        <a:latin typeface="IBM Plex Sans" charset="0"/>
                        <a:ea typeface="IBM Plex Sans" charset="0"/>
                        <a:cs typeface="IBM Plex Sans" charset="0"/>
                      </a:endParaRPr>
                    </a:p>
                  </a:txBody>
                  <a:tcPr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tcPr>
                </a:tc>
                <a:tc>
                  <a:txBody>
                    <a:bodyPr/>
                    <a:lstStyle/>
                    <a:p>
                      <a:pPr marL="0" indent="0" algn="r">
                        <a:buNone/>
                      </a:pPr>
                      <a:r>
                        <a:rPr lang="en-US" sz="1200" dirty="0">
                          <a:solidFill>
                            <a:schemeClr val="tx1"/>
                          </a:solidFill>
                          <a:latin typeface="IBM Plex Sans" pitchFamily="34" charset="0"/>
                          <a:ea typeface="IBM Plex Sans" pitchFamily="34" charset="-122"/>
                          <a:cs typeface="IBM Plex Sans" pitchFamily="34" charset="-120"/>
                        </a:rPr>
                        <a:t>2,510,487</a:t>
                      </a:r>
                      <a:endParaRPr lang="en-US" sz="1200" dirty="0">
                        <a:latin typeface="IBM Plex Sans" charset="0"/>
                        <a:ea typeface="IBM Plex Sans" charset="0"/>
                        <a:cs typeface="IBM Plex Sans" charset="0"/>
                      </a:endParaRPr>
                    </a:p>
                  </a:txBody>
                  <a:tcPr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tcPr>
                </a:tc>
                <a:tc>
                  <a:txBody>
                    <a:bodyPr/>
                    <a:lstStyle/>
                    <a:p>
                      <a:pPr marL="0" indent="0" algn="r">
                        <a:buNone/>
                      </a:pPr>
                      <a:r>
                        <a:rPr lang="en-US" sz="1200" dirty="0">
                          <a:solidFill>
                            <a:schemeClr val="tx1"/>
                          </a:solidFill>
                          <a:latin typeface="IBM Plex Sans" pitchFamily="34" charset="0"/>
                          <a:ea typeface="IBM Plex Sans" pitchFamily="34" charset="-122"/>
                          <a:cs typeface="IBM Plex Sans" pitchFamily="34" charset="-120"/>
                        </a:rPr>
                        <a:t>2.8 GB</a:t>
                      </a:r>
                      <a:endParaRPr lang="en-US" sz="1200" dirty="0">
                        <a:latin typeface="IBM Plex Sans" charset="0"/>
                        <a:ea typeface="IBM Plex Sans" charset="0"/>
                        <a:cs typeface="IBM Plex Sans" charset="0"/>
                      </a:endParaRPr>
                    </a:p>
                  </a:txBody>
                  <a:tcPr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tcPr>
                </a:tc>
                <a:tc>
                  <a:txBody>
                    <a:bodyPr/>
                    <a:lstStyle/>
                    <a:p>
                      <a:pPr marL="0" indent="0" algn="r">
                        <a:buNone/>
                      </a:pPr>
                      <a:r>
                        <a:rPr lang="en-US" sz="1200" dirty="0">
                          <a:solidFill>
                            <a:schemeClr val="tx1"/>
                          </a:solidFill>
                          <a:latin typeface="IBM Plex Sans" pitchFamily="34" charset="0"/>
                          <a:ea typeface="IBM Plex Sans" pitchFamily="34" charset="-122"/>
                          <a:cs typeface="IBM Plex Sans" pitchFamily="34" charset="-120"/>
                        </a:rPr>
                        <a:t>28 µs</a:t>
                      </a:r>
                      <a:endParaRPr lang="en-US" sz="1200" dirty="0">
                        <a:latin typeface="IBM Plex Sans" charset="0"/>
                        <a:ea typeface="IBM Plex Sans" charset="0"/>
                        <a:cs typeface="IBM Plex Sans" charset="0"/>
                      </a:endParaRPr>
                    </a:p>
                  </a:txBody>
                  <a:tcPr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tcPr>
                </a:tc>
                <a:tc>
                  <a:txBody>
                    <a:bodyPr/>
                    <a:lstStyle/>
                    <a:p>
                      <a:pPr marL="0" indent="0" algn="r">
                        <a:buNone/>
                      </a:pPr>
                      <a:r>
                        <a:rPr lang="en-US" sz="1200" b="1" dirty="0">
                          <a:solidFill>
                            <a:srgbClr val="00B0F0"/>
                          </a:solidFill>
                          <a:latin typeface="IBM Plex Sans" pitchFamily="34" charset="0"/>
                          <a:ea typeface="IBM Plex Sans" pitchFamily="34" charset="-122"/>
                          <a:cs typeface="IBM Plex Sans" pitchFamily="34" charset="-120"/>
                        </a:rPr>
                        <a:t>2.1 ms</a:t>
                      </a:r>
                      <a:endParaRPr lang="en-US" sz="1200" dirty="0">
                        <a:latin typeface="IBM Plex Sans" charset="0"/>
                        <a:ea typeface="IBM Plex Sans" charset="0"/>
                        <a:cs typeface="IBM Plex Sans" charset="0"/>
                      </a:endParaRPr>
                    </a:p>
                  </a:txBody>
                  <a:tcPr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tcPr>
                </a:tc>
                <a:tc>
                  <a:txBody>
                    <a:bodyPr/>
                    <a:lstStyle/>
                    <a:p>
                      <a:pPr marL="0" indent="0" algn="r">
                        <a:buNone/>
                      </a:pPr>
                      <a:r>
                        <a:rPr lang="en-US" sz="1200" dirty="0">
                          <a:solidFill>
                            <a:schemeClr val="tx1"/>
                          </a:solidFill>
                          <a:latin typeface="IBM Plex Sans" pitchFamily="34" charset="0"/>
                          <a:ea typeface="IBM Plex Sans" pitchFamily="34" charset="-122"/>
                          <a:cs typeface="IBM Plex Sans" pitchFamily="34" charset="-120"/>
                        </a:rPr>
                        <a:t>7.0 ms</a:t>
                      </a:r>
                      <a:endParaRPr lang="en-US" sz="1200" dirty="0">
                        <a:latin typeface="IBM Plex Sans" charset="0"/>
                        <a:ea typeface="IBM Plex Sans" charset="0"/>
                        <a:cs typeface="IBM Plex Sans" charset="0"/>
                      </a:endParaRPr>
                    </a:p>
                  </a:txBody>
                  <a:tcPr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200" dirty="0">
                          <a:solidFill>
                            <a:schemeClr val="tx1"/>
                          </a:solidFill>
                          <a:latin typeface="IBM Plex Sans" pitchFamily="34" charset="0"/>
                          <a:ea typeface="IBM Plex Sans" pitchFamily="34" charset="-122"/>
                          <a:cs typeface="IBM Plex Sans" pitchFamily="34" charset="-120"/>
                        </a:rPr>
                        <a:t>Agent memories</a:t>
                      </a:r>
                      <a:endParaRPr lang="en-US" sz="1200" dirty="0">
                        <a:latin typeface="IBM Plex Sans" charset="0"/>
                        <a:ea typeface="IBM Plex Sans" charset="0"/>
                        <a:cs typeface="IBM Plex Sans" charset="0"/>
                      </a:endParaRPr>
                    </a:p>
                  </a:txBody>
                  <a:tcPr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tcPr>
                </a:tc>
                <a:tc>
                  <a:txBody>
                    <a:bodyPr/>
                    <a:lstStyle/>
                    <a:p>
                      <a:pPr marL="0" indent="0" algn="r">
                        <a:buNone/>
                      </a:pPr>
                      <a:r>
                        <a:rPr lang="en-US" sz="1200" dirty="0">
                          <a:solidFill>
                            <a:schemeClr val="tx1"/>
                          </a:solidFill>
                          <a:latin typeface="IBM Plex Sans" pitchFamily="34" charset="0"/>
                          <a:ea typeface="IBM Plex Sans" pitchFamily="34" charset="-122"/>
                          <a:cs typeface="IBM Plex Sans" pitchFamily="34" charset="-120"/>
                        </a:rPr>
                        <a:t>246,151</a:t>
                      </a:r>
                      <a:endParaRPr lang="en-US" sz="1200" dirty="0">
                        <a:latin typeface="IBM Plex Sans" charset="0"/>
                        <a:ea typeface="IBM Plex Sans" charset="0"/>
                        <a:cs typeface="IBM Plex Sans" charset="0"/>
                      </a:endParaRPr>
                    </a:p>
                  </a:txBody>
                  <a:tcPr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tcPr>
                </a:tc>
                <a:tc>
                  <a:txBody>
                    <a:bodyPr/>
                    <a:lstStyle/>
                    <a:p>
                      <a:pPr marL="0" indent="0" algn="r">
                        <a:buNone/>
                      </a:pPr>
                      <a:r>
                        <a:rPr lang="en-US" sz="1200" dirty="0">
                          <a:solidFill>
                            <a:schemeClr val="tx1"/>
                          </a:solidFill>
                          <a:latin typeface="IBM Plex Sans" pitchFamily="34" charset="0"/>
                          <a:ea typeface="IBM Plex Sans" pitchFamily="34" charset="-122"/>
                          <a:cs typeface="IBM Plex Sans" pitchFamily="34" charset="-120"/>
                        </a:rPr>
                        <a:t>6.9 GB</a:t>
                      </a:r>
                      <a:endParaRPr lang="en-US" sz="1200" dirty="0">
                        <a:latin typeface="IBM Plex Sans" charset="0"/>
                        <a:ea typeface="IBM Plex Sans" charset="0"/>
                        <a:cs typeface="IBM Plex Sans" charset="0"/>
                      </a:endParaRPr>
                    </a:p>
                  </a:txBody>
                  <a:tcPr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tcPr>
                </a:tc>
                <a:tc>
                  <a:txBody>
                    <a:bodyPr/>
                    <a:lstStyle/>
                    <a:p>
                      <a:pPr marL="0" indent="0" algn="r">
                        <a:buNone/>
                      </a:pPr>
                      <a:r>
                        <a:rPr lang="en-US" sz="1200" dirty="0">
                          <a:solidFill>
                            <a:schemeClr val="tx1"/>
                          </a:solidFill>
                          <a:latin typeface="IBM Plex Sans" pitchFamily="34" charset="0"/>
                          <a:ea typeface="IBM Plex Sans" pitchFamily="34" charset="-122"/>
                          <a:cs typeface="IBM Plex Sans" pitchFamily="34" charset="-120"/>
                        </a:rPr>
                        <a:t>9.1 ms</a:t>
                      </a:r>
                      <a:endParaRPr lang="en-US" sz="1200" dirty="0">
                        <a:latin typeface="IBM Plex Sans" charset="0"/>
                        <a:ea typeface="IBM Plex Sans" charset="0"/>
                        <a:cs typeface="IBM Plex Sans" charset="0"/>
                      </a:endParaRPr>
                    </a:p>
                  </a:txBody>
                  <a:tcPr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tcPr>
                </a:tc>
                <a:tc>
                  <a:txBody>
                    <a:bodyPr/>
                    <a:lstStyle/>
                    <a:p>
                      <a:pPr marL="0" indent="0" algn="r">
                        <a:buNone/>
                      </a:pPr>
                      <a:r>
                        <a:rPr lang="en-US" sz="1200" b="1" dirty="0">
                          <a:solidFill>
                            <a:srgbClr val="00B0F0"/>
                          </a:solidFill>
                          <a:latin typeface="IBM Plex Sans" pitchFamily="34" charset="0"/>
                          <a:ea typeface="IBM Plex Sans" pitchFamily="34" charset="-122"/>
                          <a:cs typeface="IBM Plex Sans" pitchFamily="34" charset="-120"/>
                        </a:rPr>
                        <a:t>38.1 ms</a:t>
                      </a:r>
                      <a:endParaRPr lang="en-US" sz="1200" dirty="0">
                        <a:latin typeface="IBM Plex Sans" charset="0"/>
                        <a:ea typeface="IBM Plex Sans" charset="0"/>
                        <a:cs typeface="IBM Plex Sans" charset="0"/>
                      </a:endParaRPr>
                    </a:p>
                  </a:txBody>
                  <a:tcPr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tcPr>
                </a:tc>
                <a:tc>
                  <a:txBody>
                    <a:bodyPr/>
                    <a:lstStyle/>
                    <a:p>
                      <a:pPr marL="0" indent="0" algn="r">
                        <a:buNone/>
                      </a:pPr>
                      <a:r>
                        <a:rPr lang="en-US" sz="1200" dirty="0">
                          <a:solidFill>
                            <a:schemeClr val="tx1"/>
                          </a:solidFill>
                          <a:latin typeface="IBM Plex Sans" pitchFamily="34" charset="0"/>
                          <a:ea typeface="IBM Plex Sans" pitchFamily="34" charset="-122"/>
                          <a:cs typeface="IBM Plex Sans" pitchFamily="34" charset="-120"/>
                        </a:rPr>
                        <a:t>71.8 ms</a:t>
                      </a:r>
                      <a:endParaRPr lang="en-US" sz="1200" dirty="0">
                        <a:latin typeface="IBM Plex Sans" charset="0"/>
                        <a:ea typeface="IBM Plex Sans" charset="0"/>
                        <a:cs typeface="IBM Plex Sans" charset="0"/>
                      </a:endParaRPr>
                    </a:p>
                  </a:txBody>
                  <a:tcPr marT="0" marB="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txBox="1"/>
          <p:nvPr/>
        </p:nvSpPr>
        <p:spPr>
          <a:xfrm>
            <a:off x="566928" y="3520440"/>
            <a:ext cx="8001000" cy="548640"/>
          </a:xfrm>
          <a:prstGeom prst="rect">
            <a:avLst/>
          </a:prstGeom>
          <a:noFill/>
          <a:ln/>
        </p:spPr>
        <p:txBody>
          <a:bodyPr wrap="square" lIns="0" tIns="0" rIns="0" bIns="0" rtlCol="0" anchor="t"/>
          <a:lstStyle/>
          <a:p>
            <a:pPr marL="0" indent="0">
              <a:buNone/>
            </a:pPr>
            <a:r>
              <a:rPr lang="en-US" sz="1200" dirty="0">
                <a:solidFill>
                  <a:schemeClr val="tx2"/>
                </a:solidFill>
              </a:rPr>
              <a:t>decide() latency per row: patterns, keywords, fingerprints and path checks for every class. Classifier off. Eight workers on one laptop, so these are upper bounds for a single request.</a:t>
            </a:r>
            <a:endParaRPr lang="en-US" sz="1200" dirty="0"/>
          </a:p>
        </p:txBody>
      </p:sp>
      <p:sp>
        <p:nvSpPr>
          <p:cNvPr id="6" name="Text 3"/>
          <p:cNvSpPr txBox="1"/>
          <p:nvPr/>
        </p:nvSpPr>
        <p:spPr>
          <a:xfrm>
            <a:off x="566928" y="4114800"/>
            <a:ext cx="8001000" cy="320040"/>
          </a:xfrm>
          <a:prstGeom prst="rect">
            <a:avLst/>
          </a:prstGeom>
          <a:noFill/>
          <a:ln/>
        </p:spPr>
        <p:txBody>
          <a:bodyPr wrap="square" lIns="0" tIns="0" rIns="0" bIns="0" rtlCol="0" anchor="t"/>
          <a:lstStyle/>
          <a:p>
            <a:pPr marL="0" indent="0">
              <a:buNone/>
            </a:pPr>
            <a:r>
              <a:rPr lang="en-US" sz="1500" b="1" dirty="0">
                <a:solidFill>
                  <a:srgbClr val="29BC86"/>
                </a:solidFill>
              </a:rPr>
              <a:t>Phase 1 target: under 100 ms added at p95</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566928" y="566928"/>
            <a:ext cx="8001000" cy="512064"/>
          </a:xfrm>
          <a:prstGeom prst="rect">
            <a:avLst/>
          </a:prstGeom>
          <a:noFill/>
          <a:ln/>
        </p:spPr>
        <p:txBody>
          <a:bodyPr wrap="square" lIns="0" tIns="0" rIns="0" bIns="0" rtlCol="0" anchor="ctr"/>
          <a:lstStyle/>
          <a:p>
            <a:pPr marL="0" indent="0">
              <a:buNone/>
            </a:pPr>
            <a:r>
              <a:rPr lang="en-US" sz="2850" b="1" dirty="0">
                <a:solidFill>
                  <a:schemeClr val="tx1"/>
                </a:solidFill>
              </a:rPr>
              <a:t>Boundaries and what comes next</a:t>
            </a:r>
            <a:endParaRPr lang="en-US" sz="2850" dirty="0"/>
          </a:p>
        </p:txBody>
      </p:sp>
      <p:sp>
        <p:nvSpPr>
          <p:cNvPr id="3" name="Text 1"/>
          <p:cNvSpPr txBox="1"/>
          <p:nvPr/>
        </p:nvSpPr>
        <p:spPr>
          <a:xfrm>
            <a:off x="7653528" y="4864608"/>
            <a:ext cx="914400" cy="219456"/>
          </a:xfrm>
          <a:prstGeom prst="rect">
            <a:avLst/>
          </a:prstGeom>
          <a:noFill/>
          <a:ln/>
        </p:spPr>
        <p:txBody>
          <a:bodyPr wrap="square" lIns="0" tIns="0" rIns="0" bIns="0" rtlCol="0" anchor="ctr"/>
          <a:lstStyle/>
          <a:p>
            <a:pPr marL="0" indent="0" algn="r">
              <a:buNone/>
            </a:pPr>
            <a:r>
              <a:rPr lang="en-US" sz="1130" dirty="0">
                <a:solidFill>
                  <a:schemeClr val="tx2"/>
                </a:solidFill>
                <a:latin typeface="JetBrains Mono" pitchFamily="34" charset="0"/>
                <a:ea typeface="JetBrains Mono" pitchFamily="34" charset="-122"/>
                <a:cs typeface="JetBrains Mono" pitchFamily="34" charset="-120"/>
              </a:rPr>
              <a:t>15 / 16</a:t>
            </a:r>
            <a:endParaRPr lang="en-US" sz="1130" dirty="0"/>
          </a:p>
        </p:txBody>
      </p:sp>
      <p:sp>
        <p:nvSpPr>
          <p:cNvPr id="4" name="Known limits"/>
          <p:cNvSpPr/>
          <p:nvPr/>
        </p:nvSpPr>
        <p:spPr>
          <a:xfrm>
            <a:off x="566928" y="1325880"/>
            <a:ext cx="3904488" cy="3246120"/>
          </a:xfrm>
          <a:prstGeom prst="rect">
            <a:avLst/>
          </a:prstGeom>
          <a:solidFill>
            <a:schemeClr val="bg2"/>
          </a:solidFill>
          <a:ln/>
        </p:spPr>
        <p:txBody>
          <a:bodyPr/>
          <a:lstStyle/>
          <a:p>
            <a:endParaRPr lang="en-US"/>
          </a:p>
        </p:txBody>
      </p:sp>
      <p:sp>
        <p:nvSpPr>
          <p:cNvPr id="5" name="Text 3"/>
          <p:cNvSpPr txBox="1"/>
          <p:nvPr/>
        </p:nvSpPr>
        <p:spPr>
          <a:xfrm>
            <a:off x="768096" y="1463040"/>
            <a:ext cx="3474720" cy="320040"/>
          </a:xfrm>
          <a:prstGeom prst="rect">
            <a:avLst/>
          </a:prstGeom>
          <a:noFill/>
          <a:ln/>
        </p:spPr>
        <p:txBody>
          <a:bodyPr wrap="square" lIns="0" tIns="0" rIns="0" bIns="0" rtlCol="0" anchor="t"/>
          <a:lstStyle/>
          <a:p>
            <a:pPr marL="0" indent="0">
              <a:buNone/>
            </a:pPr>
            <a:r>
              <a:rPr lang="en-US" sz="1500" b="1" dirty="0">
                <a:solidFill>
                  <a:srgbClr val="00B0F0"/>
                </a:solidFill>
              </a:rPr>
              <a:t>Known limits</a:t>
            </a:r>
            <a:endParaRPr lang="en-US" sz="1500" dirty="0"/>
          </a:p>
        </p:txBody>
      </p:sp>
      <p:sp>
        <p:nvSpPr>
          <p:cNvPr id="6" name="Text 4"/>
          <p:cNvSpPr txBox="1"/>
          <p:nvPr/>
        </p:nvSpPr>
        <p:spPr>
          <a:xfrm>
            <a:off x="768096" y="1874520"/>
            <a:ext cx="3520440" cy="26060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Blocks only traffic routed through the proxy</a:t>
            </a:r>
            <a:endParaRPr lang="en-US" sz="1300" dirty="0"/>
          </a:p>
          <a:p>
            <a:pPr marL="177800" indent="-177800">
              <a:spcAft>
                <a:spcPts val="600"/>
              </a:spcAft>
              <a:buSzPct val="100000"/>
              <a:buChar char="•"/>
            </a:pPr>
            <a:r>
              <a:rPr lang="en-US" sz="1300" dirty="0">
                <a:solidFill>
                  <a:schemeClr val="tx1"/>
                </a:solidFill>
              </a:rPr>
              <a:t>Clipboard guard polls; typed text is unseen</a:t>
            </a:r>
            <a:endParaRPr lang="en-US" sz="1300" dirty="0"/>
          </a:p>
          <a:p>
            <a:pPr marL="177800" indent="-177800">
              <a:spcAft>
                <a:spcPts val="600"/>
              </a:spcAft>
              <a:buSzPct val="100000"/>
              <a:buChar char="•"/>
            </a:pPr>
            <a:r>
              <a:rPr lang="en-US" sz="1300" dirty="0">
                <a:solidFill>
                  <a:schemeClr val="tx1"/>
                </a:solidFill>
              </a:rPr>
              <a:t>Card rule too noisy on IDs and decimals</a:t>
            </a:r>
            <a:endParaRPr lang="en-US" sz="1300" dirty="0"/>
          </a:p>
          <a:p>
            <a:pPr marL="177800" indent="-177800">
              <a:spcAft>
                <a:spcPts val="600"/>
              </a:spcAft>
              <a:buSzPct val="100000"/>
              <a:buChar char="•"/>
            </a:pPr>
            <a:r>
              <a:rPr lang="en-US" sz="1300" dirty="0">
                <a:solidFill>
                  <a:schemeClr val="tx1"/>
                </a:solidFill>
              </a:rPr>
              <a:t>Classifier not yet calibrated on live traffic</a:t>
            </a:r>
            <a:endParaRPr lang="en-US" sz="1300" dirty="0"/>
          </a:p>
          <a:p>
            <a:pPr marL="177800" indent="-177800">
              <a:spcAft>
                <a:spcPts val="600"/>
              </a:spcAft>
              <a:buSzPct val="100000"/>
              <a:buChar char="•"/>
            </a:pPr>
            <a:r>
              <a:rPr lang="en-US" sz="1300" dirty="0">
                <a:solidFill>
                  <a:schemeClr val="tx1"/>
                </a:solidFill>
              </a:rPr>
              <a:t>Eval corpus far below 200 samples per class</a:t>
            </a:r>
            <a:endParaRPr lang="en-US" sz="1300" dirty="0"/>
          </a:p>
        </p:txBody>
      </p:sp>
      <p:sp>
        <p:nvSpPr>
          <p:cNvPr id="7" name="Next"/>
          <p:cNvSpPr/>
          <p:nvPr/>
        </p:nvSpPr>
        <p:spPr>
          <a:xfrm>
            <a:off x="4663440" y="1325880"/>
            <a:ext cx="3904488" cy="3246120"/>
          </a:xfrm>
          <a:prstGeom prst="rect">
            <a:avLst/>
          </a:prstGeom>
          <a:solidFill>
            <a:schemeClr val="bg2"/>
          </a:solidFill>
          <a:ln/>
        </p:spPr>
        <p:txBody>
          <a:bodyPr/>
          <a:lstStyle/>
          <a:p>
            <a:endParaRPr lang="en-US"/>
          </a:p>
        </p:txBody>
      </p:sp>
      <p:sp>
        <p:nvSpPr>
          <p:cNvPr id="8" name="Text 6"/>
          <p:cNvSpPr txBox="1"/>
          <p:nvPr/>
        </p:nvSpPr>
        <p:spPr>
          <a:xfrm>
            <a:off x="4864608" y="1463040"/>
            <a:ext cx="3474720" cy="320040"/>
          </a:xfrm>
          <a:prstGeom prst="rect">
            <a:avLst/>
          </a:prstGeom>
          <a:noFill/>
          <a:ln/>
        </p:spPr>
        <p:txBody>
          <a:bodyPr wrap="square" lIns="0" tIns="0" rIns="0" bIns="0" rtlCol="0" anchor="t"/>
          <a:lstStyle/>
          <a:p>
            <a:pPr marL="0" indent="0">
              <a:buNone/>
            </a:pPr>
            <a:r>
              <a:rPr lang="en-US" sz="1500" b="1" dirty="0">
                <a:solidFill>
                  <a:srgbClr val="00B0F0"/>
                </a:solidFill>
              </a:rPr>
              <a:t>Next</a:t>
            </a:r>
            <a:endParaRPr lang="en-US" sz="1500" dirty="0"/>
          </a:p>
        </p:txBody>
      </p:sp>
      <p:sp>
        <p:nvSpPr>
          <p:cNvPr id="9" name="Text 7"/>
          <p:cNvSpPr txBox="1"/>
          <p:nvPr/>
        </p:nvSpPr>
        <p:spPr>
          <a:xfrm>
            <a:off x="4864608" y="1874520"/>
            <a:ext cx="3520440" cy="26060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Tighten card and key rules using the replay</a:t>
            </a:r>
            <a:endParaRPr lang="en-US" sz="1300" dirty="0"/>
          </a:p>
          <a:p>
            <a:pPr marL="177800" indent="-177800">
              <a:spcAft>
                <a:spcPts val="600"/>
              </a:spcAft>
              <a:buSzPct val="100000"/>
              <a:buChar char="•"/>
            </a:pPr>
            <a:r>
              <a:rPr lang="en-US" sz="1300" dirty="0">
                <a:solidFill>
                  <a:schemeClr val="tx1"/>
                </a:solidFill>
              </a:rPr>
              <a:t>Grow the labeled corpus from reviewed hits</a:t>
            </a:r>
            <a:endParaRPr lang="en-US" sz="1300" dirty="0"/>
          </a:p>
          <a:p>
            <a:pPr marL="177800" indent="-177800">
              <a:spcAft>
                <a:spcPts val="600"/>
              </a:spcAft>
              <a:buSzPct val="100000"/>
              <a:buChar char="•"/>
            </a:pPr>
            <a:r>
              <a:rPr lang="en-US" sz="1300" dirty="0">
                <a:solidFill>
                  <a:schemeClr val="tx1"/>
                </a:solidFill>
              </a:rPr>
              <a:t>Block in agent hooks; local approval for hold</a:t>
            </a:r>
            <a:endParaRPr lang="en-US" sz="1300" dirty="0"/>
          </a:p>
          <a:p>
            <a:pPr marL="177800" indent="-177800">
              <a:spcAft>
                <a:spcPts val="600"/>
              </a:spcAft>
              <a:buSzPct val="100000"/>
              <a:buChar char="•"/>
            </a:pPr>
            <a:r>
              <a:rPr lang="en-US" sz="1300" dirty="0">
                <a:solidFill>
                  <a:schemeClr val="tx1"/>
                </a:solidFill>
              </a:rPr>
              <a:t>Surrogate translation instead of block</a:t>
            </a:r>
            <a:endParaRPr lang="en-US" sz="1300" dirty="0"/>
          </a:p>
          <a:p>
            <a:pPr marL="177800" indent="-177800">
              <a:spcAft>
                <a:spcPts val="600"/>
              </a:spcAft>
              <a:buSzPct val="100000"/>
              <a:buChar char="•"/>
            </a:pPr>
            <a:r>
              <a:rPr lang="en-US" sz="1300" dirty="0">
                <a:solidFill>
                  <a:schemeClr val="tx1"/>
                </a:solidFill>
              </a:rPr>
              <a:t>Managed service and forced egress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566928" y="566928"/>
            <a:ext cx="8001000" cy="512064"/>
          </a:xfrm>
          <a:prstGeom prst="rect">
            <a:avLst/>
          </a:prstGeom>
          <a:noFill/>
          <a:ln/>
        </p:spPr>
        <p:txBody>
          <a:bodyPr wrap="square" lIns="0" tIns="0" rIns="0" bIns="0" rtlCol="0" anchor="ctr"/>
          <a:lstStyle/>
          <a:p>
            <a:pPr marL="0" indent="0">
              <a:buNone/>
            </a:pPr>
            <a:r>
              <a:rPr lang="en-US" sz="2850" b="1" dirty="0">
                <a:solidFill>
                  <a:schemeClr val="tx1"/>
                </a:solidFill>
              </a:rPr>
              <a:t>Try it</a:t>
            </a:r>
            <a:endParaRPr lang="en-US" sz="2850" dirty="0"/>
          </a:p>
        </p:txBody>
      </p:sp>
      <p:sp>
        <p:nvSpPr>
          <p:cNvPr id="3" name="Text 1"/>
          <p:cNvSpPr txBox="1"/>
          <p:nvPr/>
        </p:nvSpPr>
        <p:spPr>
          <a:xfrm>
            <a:off x="7653528" y="4864608"/>
            <a:ext cx="914400" cy="219456"/>
          </a:xfrm>
          <a:prstGeom prst="rect">
            <a:avLst/>
          </a:prstGeom>
          <a:noFill/>
          <a:ln/>
        </p:spPr>
        <p:txBody>
          <a:bodyPr wrap="square" lIns="0" tIns="0" rIns="0" bIns="0" rtlCol="0" anchor="ctr"/>
          <a:lstStyle/>
          <a:p>
            <a:pPr marL="0" indent="0" algn="r">
              <a:buNone/>
            </a:pPr>
            <a:r>
              <a:rPr lang="en-US" sz="1130" dirty="0">
                <a:solidFill>
                  <a:schemeClr val="tx2"/>
                </a:solidFill>
                <a:latin typeface="JetBrains Mono" pitchFamily="34" charset="0"/>
                <a:ea typeface="JetBrains Mono" pitchFamily="34" charset="-122"/>
                <a:cs typeface="JetBrains Mono" pitchFamily="34" charset="-120"/>
              </a:rPr>
              <a:t>16 / 16</a:t>
            </a:r>
            <a:endParaRPr lang="en-US" sz="1130" dirty="0"/>
          </a:p>
        </p:txBody>
      </p:sp>
      <p:sp>
        <p:nvSpPr>
          <p:cNvPr id="4" name="Commands"/>
          <p:cNvSpPr/>
          <p:nvPr/>
        </p:nvSpPr>
        <p:spPr>
          <a:xfrm>
            <a:off x="566928" y="1325880"/>
            <a:ext cx="4572000" cy="3246120"/>
          </a:xfrm>
          <a:prstGeom prst="rect">
            <a:avLst/>
          </a:prstGeom>
          <a:solidFill>
            <a:schemeClr val="bg2"/>
          </a:solidFill>
          <a:ln/>
        </p:spPr>
        <p:txBody>
          <a:bodyPr/>
          <a:lstStyle/>
          <a:p>
            <a:endParaRPr lang="en-US"/>
          </a:p>
        </p:txBody>
      </p:sp>
      <p:sp>
        <p:nvSpPr>
          <p:cNvPr id="5" name="Text 3"/>
          <p:cNvSpPr txBox="1"/>
          <p:nvPr/>
        </p:nvSpPr>
        <p:spPr>
          <a:xfrm>
            <a:off x="749808" y="1481328"/>
            <a:ext cx="4297680" cy="2971800"/>
          </a:xfrm>
          <a:prstGeom prst="rect">
            <a:avLst/>
          </a:prstGeom>
          <a:noFill/>
          <a:ln/>
        </p:spPr>
        <p:txBody>
          <a:bodyPr wrap="square" lIns="0" tIns="0" rIns="0" bIns="0" rtlCol="0" anchor="t"/>
          <a:lstStyle/>
          <a:p>
            <a:pPr marL="0" indent="0">
              <a:buNone/>
            </a:pPr>
            <a:r>
              <a:rPr lang="en-US" sz="1050" dirty="0">
                <a:solidFill>
                  <a:schemeClr val="tx1"/>
                </a:solidFill>
                <a:latin typeface="JetBrains Mono" pitchFamily="34" charset="0"/>
                <a:ea typeface="JetBrains Mono" pitchFamily="34" charset="-122"/>
                <a:cs typeface="JetBrains Mono" pitchFamily="34" charset="-120"/>
              </a:rPr>
              <a:t>go build -o swarmsheriff .</a:t>
            </a:r>
            <a:endParaRPr lang="en-US" sz="1050" dirty="0"/>
          </a:p>
          <a:p>
            <a:pPr marL="0" indent="0">
              <a:buNone/>
            </a:pP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./swarmsheriff -quiet -log-content=false \</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    -dlp-keywords=CONFIDENTIAL,ProjectX</a:t>
            </a:r>
            <a:endParaRPr lang="en-US" sz="1050" dirty="0"/>
          </a:p>
          <a:p>
            <a:pPr marL="0" indent="0">
              <a:buNone/>
            </a:pP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./swarmsheriff -policy policy.example.json \</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    -eval testdata/corpus</a:t>
            </a:r>
            <a:endParaRPr lang="en-US" sz="1050" dirty="0"/>
          </a:p>
          <a:p>
            <a:pPr marL="0" indent="0">
              <a:buNone/>
            </a:pP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./swarmsheriff dashboard</a:t>
            </a:r>
            <a:endParaRPr lang="en-US" sz="1050" dirty="0"/>
          </a:p>
        </p:txBody>
      </p:sp>
      <p:sp>
        <p:nvSpPr>
          <p:cNvPr id="6" name="Text 4"/>
          <p:cNvSpPr txBox="1"/>
          <p:nvPr/>
        </p:nvSpPr>
        <p:spPr>
          <a:xfrm>
            <a:off x="5440680" y="1325880"/>
            <a:ext cx="3108960" cy="365760"/>
          </a:xfrm>
          <a:prstGeom prst="rect">
            <a:avLst/>
          </a:prstGeom>
          <a:noFill/>
          <a:ln/>
        </p:spPr>
        <p:txBody>
          <a:bodyPr wrap="square" lIns="0" tIns="0" rIns="0" bIns="0" rtlCol="0" anchor="t"/>
          <a:lstStyle/>
          <a:p>
            <a:pPr marL="0" indent="0">
              <a:buNone/>
            </a:pPr>
            <a:r>
              <a:rPr lang="en-US" sz="1800" b="1" dirty="0">
                <a:solidFill>
                  <a:srgbClr val="00B0F0"/>
                </a:solidFill>
              </a:rPr>
              <a:t>Prasad MK</a:t>
            </a:r>
            <a:endParaRPr lang="en-US" sz="1800" dirty="0"/>
          </a:p>
        </p:txBody>
      </p:sp>
      <p:sp>
        <p:nvSpPr>
          <p:cNvPr id="7" name="Text 5"/>
          <p:cNvSpPr txBox="1"/>
          <p:nvPr/>
        </p:nvSpPr>
        <p:spPr>
          <a:xfrm>
            <a:off x="5440680" y="1874520"/>
            <a:ext cx="1005840" cy="365760"/>
          </a:xfrm>
          <a:prstGeom prst="rect">
            <a:avLst/>
          </a:prstGeom>
          <a:noFill/>
          <a:ln/>
        </p:spPr>
        <p:txBody>
          <a:bodyPr wrap="square" lIns="0" tIns="0" rIns="0" bIns="0" rtlCol="0" anchor="ctr"/>
          <a:lstStyle/>
          <a:p>
            <a:pPr marL="0" indent="0">
              <a:buNone/>
            </a:pPr>
            <a:r>
              <a:rPr lang="en-US" sz="1100" dirty="0">
                <a:solidFill>
                  <a:schemeClr val="tx2"/>
                </a:solidFill>
              </a:rPr>
              <a:t>Code</a:t>
            </a:r>
            <a:endParaRPr lang="en-US" sz="1100" dirty="0"/>
          </a:p>
        </p:txBody>
      </p:sp>
      <p:sp>
        <p:nvSpPr>
          <p:cNvPr id="8" name="Text 6"/>
          <p:cNvSpPr txBox="1"/>
          <p:nvPr/>
        </p:nvSpPr>
        <p:spPr>
          <a:xfrm>
            <a:off x="6446520" y="1874520"/>
            <a:ext cx="2148840" cy="365760"/>
          </a:xfrm>
          <a:prstGeom prst="rect">
            <a:avLst/>
          </a:prstGeom>
          <a:noFill/>
          <a:ln/>
        </p:spPr>
        <p:txBody>
          <a:bodyPr wrap="square" lIns="0" tIns="0" rIns="0" bIns="0" rtlCol="0" anchor="ctr"/>
          <a:lstStyle/>
          <a:p>
            <a:pPr marL="0" indent="0">
              <a:buNone/>
            </a:pPr>
            <a:r>
              <a:rPr lang="en-US" sz="1000" dirty="0">
                <a:solidFill>
                  <a:schemeClr val="tx1"/>
                </a:solidFill>
                <a:latin typeface="JetBrains Mono" pitchFamily="34" charset="0"/>
                <a:ea typeface="JetBrains Mono" pitchFamily="34" charset="-122"/>
                <a:cs typeface="JetBrains Mono" pitchFamily="34" charset="-120"/>
              </a:rPr>
              <a:t>github.com/prasad-m-k/swarmsheriff</a:t>
            </a:r>
            <a:endParaRPr lang="en-US" sz="1000" dirty="0"/>
          </a:p>
        </p:txBody>
      </p:sp>
      <p:sp>
        <p:nvSpPr>
          <p:cNvPr id="9" name="Text 7"/>
          <p:cNvSpPr txBox="1"/>
          <p:nvPr/>
        </p:nvSpPr>
        <p:spPr>
          <a:xfrm>
            <a:off x="5440680" y="2331720"/>
            <a:ext cx="1005840" cy="365760"/>
          </a:xfrm>
          <a:prstGeom prst="rect">
            <a:avLst/>
          </a:prstGeom>
          <a:noFill/>
          <a:ln/>
        </p:spPr>
        <p:txBody>
          <a:bodyPr wrap="square" lIns="0" tIns="0" rIns="0" bIns="0" rtlCol="0" anchor="ctr"/>
          <a:lstStyle/>
          <a:p>
            <a:pPr marL="0" indent="0">
              <a:buNone/>
            </a:pPr>
            <a:r>
              <a:rPr lang="en-US" sz="1100" dirty="0">
                <a:solidFill>
                  <a:schemeClr val="tx2"/>
                </a:solidFill>
              </a:rPr>
              <a:t>Companion</a:t>
            </a:r>
            <a:endParaRPr lang="en-US" sz="1100" dirty="0"/>
          </a:p>
        </p:txBody>
      </p:sp>
      <p:sp>
        <p:nvSpPr>
          <p:cNvPr id="10" name="Text 8"/>
          <p:cNvSpPr txBox="1"/>
          <p:nvPr/>
        </p:nvSpPr>
        <p:spPr>
          <a:xfrm>
            <a:off x="6446520" y="2331720"/>
            <a:ext cx="2148840" cy="365760"/>
          </a:xfrm>
          <a:prstGeom prst="rect">
            <a:avLst/>
          </a:prstGeom>
          <a:noFill/>
          <a:ln/>
        </p:spPr>
        <p:txBody>
          <a:bodyPr wrap="square" lIns="0" tIns="0" rIns="0" bIns="0" rtlCol="0" anchor="ctr"/>
          <a:lstStyle/>
          <a:p>
            <a:pPr marL="0" indent="0">
              <a:buNone/>
            </a:pPr>
            <a:r>
              <a:rPr lang="en-US" sz="1000" dirty="0">
                <a:solidFill>
                  <a:schemeClr val="tx1"/>
                </a:solidFill>
                <a:latin typeface="JetBrains Mono" pitchFamily="34" charset="0"/>
                <a:ea typeface="JetBrains Mono" pitchFamily="34" charset="-122"/>
                <a:cs typeface="JetBrains Mono" pitchFamily="34" charset="-120"/>
              </a:rPr>
              <a:t>github.com/prasad-m-k/swarmsentinel</a:t>
            </a:r>
            <a:endParaRPr lang="en-US" sz="1000" dirty="0"/>
          </a:p>
        </p:txBody>
      </p:sp>
      <p:sp>
        <p:nvSpPr>
          <p:cNvPr id="11" name="Text 9"/>
          <p:cNvSpPr txBox="1"/>
          <p:nvPr/>
        </p:nvSpPr>
        <p:spPr>
          <a:xfrm>
            <a:off x="5440680" y="2788920"/>
            <a:ext cx="1005840" cy="365760"/>
          </a:xfrm>
          <a:prstGeom prst="rect">
            <a:avLst/>
          </a:prstGeom>
          <a:noFill/>
          <a:ln/>
        </p:spPr>
        <p:txBody>
          <a:bodyPr wrap="square" lIns="0" tIns="0" rIns="0" bIns="0" rtlCol="0" anchor="ctr"/>
          <a:lstStyle/>
          <a:p>
            <a:pPr marL="0" indent="0">
              <a:buNone/>
            </a:pPr>
            <a:r>
              <a:rPr lang="en-US" sz="1100" dirty="0">
                <a:solidFill>
                  <a:schemeClr val="tx2"/>
                </a:solidFill>
              </a:rPr>
              <a:t>Paper DOI</a:t>
            </a:r>
            <a:endParaRPr lang="en-US" sz="1100" dirty="0"/>
          </a:p>
        </p:txBody>
      </p:sp>
      <p:sp>
        <p:nvSpPr>
          <p:cNvPr id="12" name="Text 10"/>
          <p:cNvSpPr txBox="1"/>
          <p:nvPr/>
        </p:nvSpPr>
        <p:spPr>
          <a:xfrm>
            <a:off x="6446520" y="2788920"/>
            <a:ext cx="2148840" cy="365760"/>
          </a:xfrm>
          <a:prstGeom prst="rect">
            <a:avLst/>
          </a:prstGeom>
          <a:noFill/>
          <a:ln/>
        </p:spPr>
        <p:txBody>
          <a:bodyPr wrap="square" lIns="0" tIns="0" rIns="0" bIns="0" rtlCol="0" anchor="ctr"/>
          <a:lstStyle/>
          <a:p>
            <a:pPr marL="0" indent="0">
              <a:buNone/>
            </a:pPr>
            <a:r>
              <a:rPr lang="en-US" sz="1000" dirty="0">
                <a:solidFill>
                  <a:schemeClr val="tx1"/>
                </a:solidFill>
                <a:latin typeface="JetBrains Mono" pitchFamily="34" charset="0"/>
                <a:ea typeface="JetBrains Mono" pitchFamily="34" charset="-122"/>
                <a:cs typeface="JetBrains Mono" pitchFamily="34" charset="-120"/>
              </a:rPr>
              <a:t>10.2139/ssrn.6876926</a:t>
            </a:r>
            <a:endParaRPr lang="en-US" sz="1000" dirty="0"/>
          </a:p>
        </p:txBody>
      </p:sp>
      <p:sp>
        <p:nvSpPr>
          <p:cNvPr id="13" name="Text 11"/>
          <p:cNvSpPr txBox="1"/>
          <p:nvPr/>
        </p:nvSpPr>
        <p:spPr>
          <a:xfrm>
            <a:off x="5440680" y="3246120"/>
            <a:ext cx="1005840" cy="365760"/>
          </a:xfrm>
          <a:prstGeom prst="rect">
            <a:avLst/>
          </a:prstGeom>
          <a:noFill/>
          <a:ln/>
        </p:spPr>
        <p:txBody>
          <a:bodyPr wrap="square" lIns="0" tIns="0" rIns="0" bIns="0" rtlCol="0" anchor="ctr"/>
          <a:lstStyle/>
          <a:p>
            <a:pPr marL="0" indent="0">
              <a:buNone/>
            </a:pPr>
            <a:r>
              <a:rPr lang="en-US" sz="1100" dirty="0">
                <a:solidFill>
                  <a:schemeClr val="tx2"/>
                </a:solidFill>
              </a:rPr>
              <a:t>Design</a:t>
            </a:r>
            <a:endParaRPr lang="en-US" sz="1100" dirty="0"/>
          </a:p>
        </p:txBody>
      </p:sp>
      <p:sp>
        <p:nvSpPr>
          <p:cNvPr id="14" name="Text 12"/>
          <p:cNvSpPr txBox="1"/>
          <p:nvPr/>
        </p:nvSpPr>
        <p:spPr>
          <a:xfrm>
            <a:off x="6446520" y="3246120"/>
            <a:ext cx="2148840" cy="365760"/>
          </a:xfrm>
          <a:prstGeom prst="rect">
            <a:avLst/>
          </a:prstGeom>
          <a:noFill/>
          <a:ln/>
        </p:spPr>
        <p:txBody>
          <a:bodyPr wrap="square" lIns="0" tIns="0" rIns="0" bIns="0" rtlCol="0" anchor="ctr"/>
          <a:lstStyle/>
          <a:p>
            <a:pPr marL="0" indent="0">
              <a:buNone/>
            </a:pPr>
            <a:r>
              <a:rPr lang="en-US" sz="1000" dirty="0">
                <a:solidFill>
                  <a:schemeClr val="tx1"/>
                </a:solidFill>
                <a:latin typeface="JetBrains Mono" pitchFamily="34" charset="0"/>
                <a:ea typeface="JetBrains Mono" pitchFamily="34" charset="-122"/>
                <a:cs typeface="JetBrains Mono" pitchFamily="34" charset="-120"/>
              </a:rPr>
              <a:t>docs/ARCHITECTURE.md</a:t>
            </a:r>
            <a:endParaRPr lang="en-US" sz="1000" dirty="0"/>
          </a:p>
        </p:txBody>
      </p:sp>
      <p:sp>
        <p:nvSpPr>
          <p:cNvPr id="15" name="Text 13"/>
          <p:cNvSpPr txBox="1"/>
          <p:nvPr/>
        </p:nvSpPr>
        <p:spPr>
          <a:xfrm>
            <a:off x="5440680" y="3840480"/>
            <a:ext cx="3127248" cy="685800"/>
          </a:xfrm>
          <a:prstGeom prst="rect">
            <a:avLst/>
          </a:prstGeom>
          <a:noFill/>
          <a:ln/>
        </p:spPr>
        <p:txBody>
          <a:bodyPr wrap="square" lIns="0" tIns="0" rIns="0" bIns="0" rtlCol="0" anchor="t"/>
          <a:lstStyle/>
          <a:p>
            <a:pPr marL="0" indent="0">
              <a:buNone/>
            </a:pPr>
            <a:r>
              <a:rPr lang="en-US" sz="1000" dirty="0">
                <a:solidFill>
                  <a:schemeClr val="tx2"/>
                </a:solidFill>
              </a:rPr>
              <a:t>Real-data evaluation uses the AI Village dataset: AI Digest, "AI Village dataset", 2026. Results are counterfactual.</a:t>
            </a:r>
            <a:endParaRPr lang="en-US" sz="1000" dirty="0"/>
          </a:p>
        </p:txBody>
      </p:sp>
    </p:spTree>
  </p:cSld>
  <p:clrMapOvr>
    <a:masterClrMapping/>
  </p:clrMapOvr>
</p:sld>
</file>

<file path=ppt/theme/theme1.xml><?xml version="1.0" encoding="utf-8"?>
<a:theme xmlns:a="http://schemas.openxmlformats.org/drawingml/2006/main" name="SwarmSentinel">
  <a:themeElements>
    <a:clrScheme name="SwarmSentinel">
      <a:dk1>
        <a:srgbClr val="E0E6EB"/>
      </a:dk1>
      <a:lt1>
        <a:srgbClr val="0C1118"/>
      </a:lt1>
      <a:dk2>
        <a:srgbClr val="919DAC"/>
      </a:dk2>
      <a:lt2>
        <a:srgbClr val="121821"/>
      </a:lt2>
      <a:accent1>
        <a:srgbClr val="29BC86"/>
      </a:accent1>
      <a:accent2>
        <a:srgbClr val="222A35"/>
      </a:accent2>
      <a:accent3>
        <a:srgbClr val="F5B83D"/>
      </a:accent3>
      <a:accent4>
        <a:srgbClr val="FF5D5D"/>
      </a:accent4>
      <a:accent5>
        <a:srgbClr val="5CC8FF"/>
      </a:accent5>
      <a:accent6>
        <a:srgbClr val="3DDC97"/>
      </a:accent6>
      <a:hlink>
        <a:srgbClr val="29BC86"/>
      </a:hlink>
      <a:folHlink>
        <a:srgbClr val="919DAC"/>
      </a:folHlink>
    </a:clrScheme>
    <a:fontScheme name="SwarmSentinel">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3835</Words>
  <Application>Microsoft Macintosh PowerPoint</Application>
  <PresentationFormat>On-screen Show (16:9)</PresentationFormat>
  <Paragraphs>309</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IBM Plex Sans</vt:lpstr>
      <vt:lpstr>JetBrains Mono</vt:lpstr>
      <vt:lpstr>SwarmSentinel</vt:lpstr>
      <vt:lpstr>SwarmSheriff</vt:lpstr>
      <vt:lpstr>Problem: data leaves without an attacker</vt:lpstr>
      <vt:lpstr>Two directions, two checkpoints</vt:lpstr>
      <vt:lpstr>Architecture: decide before the request leaves</vt:lpstr>
      <vt:lpstr>Rules first, model last</vt:lpstr>
      <vt:lpstr>Policy declared as data</vt:lpstr>
      <vt:lpstr>Integration: one environment variable</vt:lpstr>
      <vt:lpstr>Store counts, not content</vt:lpstr>
      <vt:lpstr>Coverage, honestly</vt:lpstr>
      <vt:lpstr>Test: replaying real agent traffic</vt:lpstr>
      <vt:lpstr>Evidence: 3.18M rows, 10.1 GB of agent text</vt:lpstr>
      <vt:lpstr>What it caught: credentials in agent context</vt:lpstr>
      <vt:lpstr>What it got wrong: card numbers</vt:lpstr>
      <vt:lpstr>Speed on real text</vt:lpstr>
      <vt:lpstr>Boundaries and what comes next</vt:lpstr>
      <vt:lpstr>Try it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SwarmSheriff</dc:title>
  <dc:subject>PptxGenJS Presentation</dc:subject>
  <dc:creator>Prasad MK</dc:creator>
  <cp:lastModifiedBy>Prasad M.K.</cp:lastModifiedBy>
  <cp:revision>2</cp:revision>
  <dcterms:created xsi:type="dcterms:W3CDTF">2026-10-12T05:56:40Z</dcterms:created>
  <dcterms:modified xsi:type="dcterms:W3CDTF">2026-10-12T06:00:35Z</dcterms:modified>
</cp:coreProperties>
</file>